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1" r:id="rId4"/>
    <p:sldId id="269" r:id="rId5"/>
    <p:sldId id="270" r:id="rId6"/>
    <p:sldId id="262" r:id="rId7"/>
    <p:sldId id="258" r:id="rId8"/>
    <p:sldId id="259" r:id="rId9"/>
    <p:sldId id="260" r:id="rId10"/>
    <p:sldId id="264" r:id="rId11"/>
    <p:sldId id="267" r:id="rId12"/>
  </p:sldIdLst>
  <p:sldSz cx="18288000" cy="10287000"/>
  <p:notesSz cx="6858000" cy="9144000"/>
  <p:embeddedFontLst>
    <p:embeddedFont>
      <p:font typeface="Alatsi" panose="020B0604020202020204" charset="0"/>
      <p:regular r:id="rId13"/>
    </p:embeddedFont>
    <p:embeddedFont>
      <p:font typeface="Arimo Bold" panose="020B0604020202020204" charset="0"/>
      <p:regular r:id="rId14"/>
    </p:embeddedFont>
    <p:embeddedFont>
      <p:font typeface="Canva Sans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10/21/2026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31071" y="0"/>
            <a:ext cx="4239083" cy="10287000"/>
            <a:chOff x="0" y="0"/>
            <a:chExt cx="5652111" cy="13716000"/>
          </a:xfrm>
        </p:grpSpPr>
        <p:grpSp>
          <p:nvGrpSpPr>
            <p:cNvPr id="3" name="Group 3"/>
            <p:cNvGrpSpPr/>
            <p:nvPr/>
          </p:nvGrpSpPr>
          <p:grpSpPr>
            <a:xfrm>
              <a:off x="2826056" y="0"/>
              <a:ext cx="2826056" cy="13716000"/>
              <a:chOff x="0" y="0"/>
              <a:chExt cx="558233" cy="2709333"/>
            </a:xfrm>
          </p:grpSpPr>
          <p:sp>
            <p:nvSpPr>
              <p:cNvPr id="4" name="Freeform 4"/>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txBody>
              <a:bodyPr/>
              <a:lstStyle/>
              <a:p>
                <a:endParaRPr lang="en-IN" dirty="0"/>
              </a:p>
            </p:txBody>
          </p:sp>
          <p:sp>
            <p:nvSpPr>
              <p:cNvPr id="5" name="TextBox 5"/>
              <p:cNvSpPr txBox="1"/>
              <p:nvPr/>
            </p:nvSpPr>
            <p:spPr>
              <a:xfrm>
                <a:off x="0" y="-47625"/>
                <a:ext cx="558233" cy="2756958"/>
              </a:xfrm>
              <a:prstGeom prst="rect">
                <a:avLst/>
              </a:prstGeom>
            </p:spPr>
            <p:txBody>
              <a:bodyPr lIns="50800" tIns="50800" rIns="50800" bIns="50800" rtlCol="0" anchor="ctr"/>
              <a:lstStyle/>
              <a:p>
                <a:pPr algn="ctr">
                  <a:lnSpc>
                    <a:spcPts val="2659"/>
                  </a:lnSpc>
                </a:pPr>
                <a:endParaRPr dirty="0"/>
              </a:p>
            </p:txBody>
          </p:sp>
        </p:grpSp>
        <p:grpSp>
          <p:nvGrpSpPr>
            <p:cNvPr id="6" name="Group 6"/>
            <p:cNvGrpSpPr/>
            <p:nvPr/>
          </p:nvGrpSpPr>
          <p:grpSpPr>
            <a:xfrm>
              <a:off x="1413028" y="0"/>
              <a:ext cx="2826056" cy="13716000"/>
              <a:chOff x="0" y="0"/>
              <a:chExt cx="558233" cy="2709333"/>
            </a:xfrm>
          </p:grpSpPr>
          <p:sp>
            <p:nvSpPr>
              <p:cNvPr id="7" name="Freeform 7"/>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txBody>
              <a:bodyPr/>
              <a:lstStyle/>
              <a:p>
                <a:endParaRPr lang="en-IN" dirty="0"/>
              </a:p>
            </p:txBody>
          </p:sp>
          <p:sp>
            <p:nvSpPr>
              <p:cNvPr id="8" name="TextBox 8"/>
              <p:cNvSpPr txBox="1"/>
              <p:nvPr/>
            </p:nvSpPr>
            <p:spPr>
              <a:xfrm>
                <a:off x="0" y="-47625"/>
                <a:ext cx="558233" cy="2756958"/>
              </a:xfrm>
              <a:prstGeom prst="rect">
                <a:avLst/>
              </a:prstGeom>
            </p:spPr>
            <p:txBody>
              <a:bodyPr lIns="50800" tIns="50800" rIns="50800" bIns="50800" rtlCol="0" anchor="ctr"/>
              <a:lstStyle/>
              <a:p>
                <a:pPr algn="ctr">
                  <a:lnSpc>
                    <a:spcPts val="2659"/>
                  </a:lnSpc>
                </a:pPr>
                <a:endParaRPr dirty="0"/>
              </a:p>
            </p:txBody>
          </p:sp>
        </p:grpSp>
        <p:grpSp>
          <p:nvGrpSpPr>
            <p:cNvPr id="9" name="Group 9"/>
            <p:cNvGrpSpPr/>
            <p:nvPr/>
          </p:nvGrpSpPr>
          <p:grpSpPr>
            <a:xfrm>
              <a:off x="0" y="0"/>
              <a:ext cx="2826056" cy="13716000"/>
              <a:chOff x="0" y="0"/>
              <a:chExt cx="558233" cy="2709333"/>
            </a:xfrm>
          </p:grpSpPr>
          <p:sp>
            <p:nvSpPr>
              <p:cNvPr id="10" name="Freeform 10"/>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txBody>
              <a:bodyPr/>
              <a:lstStyle/>
              <a:p>
                <a:endParaRPr lang="en-IN" dirty="0"/>
              </a:p>
            </p:txBody>
          </p:sp>
          <p:sp>
            <p:nvSpPr>
              <p:cNvPr id="11" name="TextBox 11"/>
              <p:cNvSpPr txBox="1"/>
              <p:nvPr/>
            </p:nvSpPr>
            <p:spPr>
              <a:xfrm>
                <a:off x="0" y="-47625"/>
                <a:ext cx="558233" cy="2756958"/>
              </a:xfrm>
              <a:prstGeom prst="rect">
                <a:avLst/>
              </a:prstGeom>
            </p:spPr>
            <p:txBody>
              <a:bodyPr lIns="50800" tIns="50800" rIns="50800" bIns="50800" rtlCol="0" anchor="ctr"/>
              <a:lstStyle/>
              <a:p>
                <a:pPr algn="ctr">
                  <a:lnSpc>
                    <a:spcPts val="2659"/>
                  </a:lnSpc>
                </a:pPr>
                <a:endParaRPr dirty="0"/>
              </a:p>
            </p:txBody>
          </p:sp>
        </p:grpSp>
      </p:grpSp>
      <p:sp>
        <p:nvSpPr>
          <p:cNvPr id="13" name="Freeform 13"/>
          <p:cNvSpPr/>
          <p:nvPr/>
        </p:nvSpPr>
        <p:spPr>
          <a:xfrm>
            <a:off x="11118095" y="9258300"/>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14" name="Freeform 14"/>
          <p:cNvSpPr/>
          <p:nvPr/>
        </p:nvSpPr>
        <p:spPr>
          <a:xfrm>
            <a:off x="15544800" y="0"/>
            <a:ext cx="2743200" cy="1936439"/>
          </a:xfrm>
          <a:custGeom>
            <a:avLst/>
            <a:gdLst/>
            <a:ahLst/>
            <a:cxnLst/>
            <a:rect l="l" t="t" r="r" b="b"/>
            <a:pathLst>
              <a:path w="1983502" h="1499159">
                <a:moveTo>
                  <a:pt x="0" y="0"/>
                </a:moveTo>
                <a:lnTo>
                  <a:pt x="1983502" y="0"/>
                </a:lnTo>
                <a:lnTo>
                  <a:pt x="1983502" y="1499159"/>
                </a:lnTo>
                <a:lnTo>
                  <a:pt x="0" y="1499159"/>
                </a:lnTo>
                <a:lnTo>
                  <a:pt x="0" y="0"/>
                </a:lnTo>
                <a:close/>
              </a:path>
            </a:pathLst>
          </a:custGeom>
          <a:blipFill>
            <a:blip r:embed="rId3"/>
            <a:stretch>
              <a:fillRect/>
            </a:stretch>
          </a:blipFill>
        </p:spPr>
        <p:txBody>
          <a:bodyPr/>
          <a:lstStyle/>
          <a:p>
            <a:endParaRPr lang="en-IN" dirty="0"/>
          </a:p>
        </p:txBody>
      </p:sp>
      <p:sp>
        <p:nvSpPr>
          <p:cNvPr id="15" name="TextBox 15"/>
          <p:cNvSpPr txBox="1"/>
          <p:nvPr/>
        </p:nvSpPr>
        <p:spPr>
          <a:xfrm>
            <a:off x="4523155" y="5448300"/>
            <a:ext cx="13040877" cy="3394136"/>
          </a:xfrm>
          <a:prstGeom prst="rect">
            <a:avLst/>
          </a:prstGeom>
        </p:spPr>
        <p:txBody>
          <a:bodyPr lIns="0" tIns="0" rIns="0" bIns="0" rtlCol="0" anchor="t">
            <a:spAutoFit/>
          </a:bodyPr>
          <a:lstStyle/>
          <a:p>
            <a:pPr algn="ctr">
              <a:lnSpc>
                <a:spcPts val="5381"/>
              </a:lnSpc>
            </a:pPr>
            <a:r>
              <a:rPr lang="en-US" sz="3800" dirty="0">
                <a:solidFill>
                  <a:srgbClr val="000000"/>
                </a:solidFill>
                <a:latin typeface="Times New Roman" panose="02020603050405020304" pitchFamily="18" charset="0"/>
                <a:ea typeface="Alatsi"/>
                <a:cs typeface="Times New Roman" panose="02020603050405020304" pitchFamily="18" charset="0"/>
                <a:sym typeface="Alatsi"/>
              </a:rPr>
              <a:t>Group 3 : Suyash Shirsat, Priyanka Vaidya, Devesh Shelatkar, Sairaj Sawant</a:t>
            </a:r>
          </a:p>
          <a:p>
            <a:pPr algn="ctr">
              <a:lnSpc>
                <a:spcPts val="5381"/>
              </a:lnSpc>
            </a:pPr>
            <a:r>
              <a:rPr lang="en-US" sz="3800" dirty="0">
                <a:solidFill>
                  <a:srgbClr val="000000"/>
                </a:solidFill>
                <a:latin typeface="Times New Roman" panose="02020603050405020304" pitchFamily="18" charset="0"/>
                <a:ea typeface="Alatsi"/>
                <a:cs typeface="Times New Roman" panose="02020603050405020304" pitchFamily="18" charset="0"/>
                <a:sym typeface="Alatsi"/>
              </a:rPr>
              <a:t>Guide : Dr. Bharti Ingale</a:t>
            </a:r>
          </a:p>
          <a:p>
            <a:pPr algn="ctr">
              <a:lnSpc>
                <a:spcPts val="5381"/>
              </a:lnSpc>
            </a:pPr>
            <a:endParaRPr lang="en-US" sz="3844" dirty="0">
              <a:solidFill>
                <a:srgbClr val="000000"/>
              </a:solidFill>
              <a:latin typeface="Times New Roman" panose="02020603050405020304" pitchFamily="18" charset="0"/>
              <a:ea typeface="Alatsi"/>
              <a:cs typeface="Times New Roman" panose="02020603050405020304" pitchFamily="18" charset="0"/>
              <a:sym typeface="Alatsi"/>
            </a:endParaRPr>
          </a:p>
          <a:p>
            <a:pPr algn="ctr">
              <a:lnSpc>
                <a:spcPts val="5381"/>
              </a:lnSpc>
            </a:pPr>
            <a:endParaRPr lang="en-US" sz="3844" dirty="0">
              <a:solidFill>
                <a:srgbClr val="000000"/>
              </a:solidFill>
              <a:latin typeface="Alatsi"/>
              <a:ea typeface="Alatsi"/>
              <a:cs typeface="Alatsi"/>
              <a:sym typeface="Alatsi"/>
            </a:endParaRPr>
          </a:p>
        </p:txBody>
      </p:sp>
      <p:sp>
        <p:nvSpPr>
          <p:cNvPr id="16" name="TextBox 16"/>
          <p:cNvSpPr txBox="1"/>
          <p:nvPr/>
        </p:nvSpPr>
        <p:spPr>
          <a:xfrm>
            <a:off x="7602539" y="7961514"/>
            <a:ext cx="6882108" cy="1088854"/>
          </a:xfrm>
          <a:prstGeom prst="rect">
            <a:avLst/>
          </a:prstGeom>
        </p:spPr>
        <p:txBody>
          <a:bodyPr lIns="0" tIns="0" rIns="0" bIns="0" rtlCol="0" anchor="t">
            <a:spAutoFit/>
          </a:bodyPr>
          <a:lstStyle/>
          <a:p>
            <a:pPr algn="ctr">
              <a:lnSpc>
                <a:spcPts val="4376"/>
              </a:lnSpc>
            </a:pPr>
            <a:r>
              <a:rPr lang="en-US" sz="3126" dirty="0">
                <a:solidFill>
                  <a:srgbClr val="000000"/>
                </a:solidFill>
                <a:latin typeface="Times New Roman" panose="02020603050405020304" pitchFamily="18" charset="0"/>
                <a:ea typeface="Alatsi"/>
                <a:cs typeface="Times New Roman" panose="02020603050405020304" pitchFamily="18" charset="0"/>
                <a:sym typeface="Alatsi"/>
              </a:rPr>
              <a:t>Thadomal Shahani Engineering College</a:t>
            </a:r>
          </a:p>
          <a:p>
            <a:pPr algn="ctr">
              <a:lnSpc>
                <a:spcPts val="4376"/>
              </a:lnSpc>
            </a:pPr>
            <a:endParaRPr lang="en-US" sz="3126" dirty="0">
              <a:solidFill>
                <a:srgbClr val="000000"/>
              </a:solidFill>
              <a:latin typeface="Alatsi"/>
              <a:ea typeface="Alatsi"/>
              <a:cs typeface="Alatsi"/>
              <a:sym typeface="Alatsi"/>
            </a:endParaRPr>
          </a:p>
        </p:txBody>
      </p:sp>
      <p:sp>
        <p:nvSpPr>
          <p:cNvPr id="17" name="TextBox 17"/>
          <p:cNvSpPr txBox="1"/>
          <p:nvPr/>
        </p:nvSpPr>
        <p:spPr>
          <a:xfrm>
            <a:off x="4282514" y="2352303"/>
            <a:ext cx="13671161" cy="2499402"/>
          </a:xfrm>
          <a:prstGeom prst="rect">
            <a:avLst/>
          </a:prstGeom>
        </p:spPr>
        <p:txBody>
          <a:bodyPr lIns="0" tIns="0" rIns="0" bIns="0" rtlCol="0" anchor="t">
            <a:spAutoFit/>
          </a:bodyPr>
          <a:lstStyle/>
          <a:p>
            <a:pPr algn="ctr">
              <a:lnSpc>
                <a:spcPts val="6439"/>
              </a:lnSpc>
              <a:spcBef>
                <a:spcPct val="0"/>
              </a:spcBef>
            </a:pPr>
            <a:r>
              <a:rPr lang="en-US" sz="4400" dirty="0">
                <a:solidFill>
                  <a:srgbClr val="000000"/>
                </a:solidFill>
                <a:latin typeface="Times New Roman" panose="02020603050405020304" pitchFamily="18" charset="0"/>
                <a:ea typeface="Alatsi"/>
                <a:cs typeface="Times New Roman" panose="02020603050405020304" pitchFamily="18" charset="0"/>
                <a:sym typeface="Alatsi"/>
              </a:rPr>
              <a:t>WearTwin: A Smart Wearable Device for Soldier Health, Fatigue and Readiness Monitoring</a:t>
            </a:r>
          </a:p>
          <a:p>
            <a:pPr algn="ctr">
              <a:lnSpc>
                <a:spcPts val="6439"/>
              </a:lnSpc>
              <a:spcBef>
                <a:spcPct val="0"/>
              </a:spcBef>
            </a:pPr>
            <a:endParaRPr lang="en-US" sz="7200" dirty="0">
              <a:solidFill>
                <a:srgbClr val="000000"/>
              </a:solidFill>
              <a:latin typeface="Alatsi"/>
              <a:ea typeface="Alatsi"/>
              <a:cs typeface="Alatsi"/>
              <a:sym typeface="Alats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16477994" y="0"/>
            <a:ext cx="1562612" cy="1673225"/>
            <a:chOff x="0" y="0"/>
            <a:chExt cx="2083482" cy="2230967"/>
          </a:xfrm>
        </p:grpSpPr>
        <p:grpSp>
          <p:nvGrpSpPr>
            <p:cNvPr id="3" name="Group 3"/>
            <p:cNvGrpSpPr/>
            <p:nvPr/>
          </p:nvGrpSpPr>
          <p:grpSpPr>
            <a:xfrm>
              <a:off x="75599" y="0"/>
              <a:ext cx="1932284" cy="2230967"/>
              <a:chOff x="0" y="0"/>
              <a:chExt cx="703982" cy="812800"/>
            </a:xfrm>
          </p:grpSpPr>
          <p:sp>
            <p:nvSpPr>
              <p:cNvPr id="4" name="Freeform 4"/>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txBody>
              <a:bodyPr/>
              <a:lstStyle/>
              <a:p>
                <a:endParaRPr lang="en-IN" dirty="0"/>
              </a:p>
            </p:txBody>
          </p:sp>
          <p:sp>
            <p:nvSpPr>
              <p:cNvPr id="5" name="TextBox 5"/>
              <p:cNvSpPr txBox="1"/>
              <p:nvPr/>
            </p:nvSpPr>
            <p:spPr>
              <a:xfrm>
                <a:off x="0" y="-47625"/>
                <a:ext cx="703982" cy="733425"/>
              </a:xfrm>
              <a:prstGeom prst="rect">
                <a:avLst/>
              </a:prstGeom>
            </p:spPr>
            <p:txBody>
              <a:bodyPr lIns="50800" tIns="50800" rIns="50800" bIns="50800" rtlCol="0" anchor="ctr"/>
              <a:lstStyle/>
              <a:p>
                <a:pPr algn="ctr">
                  <a:lnSpc>
                    <a:spcPts val="2659"/>
                  </a:lnSpc>
                </a:pPr>
                <a:endParaRPr dirty="0"/>
              </a:p>
            </p:txBody>
          </p:sp>
        </p:grpSp>
        <p:sp>
          <p:nvSpPr>
            <p:cNvPr id="6" name="TextBox 6"/>
            <p:cNvSpPr txBox="1"/>
            <p:nvPr/>
          </p:nvSpPr>
          <p:spPr>
            <a:xfrm>
              <a:off x="0" y="409007"/>
              <a:ext cx="2083482" cy="1270099"/>
            </a:xfrm>
            <a:prstGeom prst="rect">
              <a:avLst/>
            </a:prstGeom>
          </p:spPr>
          <p:txBody>
            <a:bodyPr lIns="0" tIns="0" rIns="0" bIns="0" rtlCol="0" anchor="t">
              <a:spAutoFit/>
            </a:bodyPr>
            <a:lstStyle/>
            <a:p>
              <a:pPr algn="ctr">
                <a:lnSpc>
                  <a:spcPts val="7805"/>
                </a:lnSpc>
              </a:pPr>
              <a:r>
                <a:rPr lang="en-US" sz="5575" b="1" dirty="0">
                  <a:solidFill>
                    <a:srgbClr val="000000"/>
                  </a:solidFill>
                  <a:latin typeface="Arimo Bold"/>
                  <a:ea typeface="Arimo Bold"/>
                  <a:cs typeface="Arimo Bold"/>
                  <a:sym typeface="Arimo Bold"/>
                </a:rPr>
                <a:t>5</a:t>
              </a:r>
            </a:p>
          </p:txBody>
        </p:sp>
      </p:grpSp>
      <p:sp>
        <p:nvSpPr>
          <p:cNvPr id="7" name="Freeform 7"/>
          <p:cNvSpPr/>
          <p:nvPr/>
        </p:nvSpPr>
        <p:spPr>
          <a:xfrm>
            <a:off x="16074194" y="0"/>
            <a:ext cx="2213806" cy="1673225"/>
          </a:xfrm>
          <a:custGeom>
            <a:avLst/>
            <a:gdLst/>
            <a:ahLst/>
            <a:cxnLst/>
            <a:rect l="l" t="t" r="r" b="b"/>
            <a:pathLst>
              <a:path w="2213806" h="1673225">
                <a:moveTo>
                  <a:pt x="0" y="0"/>
                </a:moveTo>
                <a:lnTo>
                  <a:pt x="2213806" y="0"/>
                </a:lnTo>
                <a:lnTo>
                  <a:pt x="2213806" y="1673225"/>
                </a:lnTo>
                <a:lnTo>
                  <a:pt x="0" y="1673225"/>
                </a:lnTo>
                <a:lnTo>
                  <a:pt x="0" y="0"/>
                </a:lnTo>
                <a:close/>
              </a:path>
            </a:pathLst>
          </a:custGeom>
          <a:blipFill>
            <a:blip r:embed="rId2"/>
            <a:stretch>
              <a:fillRect/>
            </a:stretch>
          </a:blipFill>
        </p:spPr>
        <p:txBody>
          <a:bodyPr/>
          <a:lstStyle/>
          <a:p>
            <a:endParaRPr lang="en-IN" dirty="0"/>
          </a:p>
        </p:txBody>
      </p:sp>
      <p:sp>
        <p:nvSpPr>
          <p:cNvPr id="13" name="Freeform 13"/>
          <p:cNvSpPr/>
          <p:nvPr/>
        </p:nvSpPr>
        <p:spPr>
          <a:xfrm>
            <a:off x="11963401" y="2248427"/>
            <a:ext cx="5562600" cy="6857473"/>
          </a:xfrm>
          <a:custGeom>
            <a:avLst/>
            <a:gdLst/>
            <a:ahLst/>
            <a:cxnLst/>
            <a:rect l="l" t="t" r="r" b="b"/>
            <a:pathLst>
              <a:path w="5281788" h="6288629">
                <a:moveTo>
                  <a:pt x="0" y="0"/>
                </a:moveTo>
                <a:lnTo>
                  <a:pt x="5281788" y="0"/>
                </a:lnTo>
                <a:lnTo>
                  <a:pt x="5281788" y="6288629"/>
                </a:lnTo>
                <a:lnTo>
                  <a:pt x="0" y="6288629"/>
                </a:lnTo>
                <a:lnTo>
                  <a:pt x="0" y="0"/>
                </a:lnTo>
                <a:close/>
              </a:path>
            </a:pathLst>
          </a:custGeom>
          <a:blipFill>
            <a:blip r:embed="rId3"/>
            <a:stretch>
              <a:fillRect/>
            </a:stretch>
          </a:blipFill>
        </p:spPr>
        <p:txBody>
          <a:bodyPr/>
          <a:lstStyle/>
          <a:p>
            <a:endParaRPr lang="en-IN" dirty="0"/>
          </a:p>
        </p:txBody>
      </p:sp>
      <p:sp>
        <p:nvSpPr>
          <p:cNvPr id="14" name="TextBox 14"/>
          <p:cNvSpPr txBox="1"/>
          <p:nvPr/>
        </p:nvSpPr>
        <p:spPr>
          <a:xfrm>
            <a:off x="3228072" y="169150"/>
            <a:ext cx="11061874" cy="1150828"/>
          </a:xfrm>
          <a:prstGeom prst="rect">
            <a:avLst/>
          </a:prstGeom>
        </p:spPr>
        <p:txBody>
          <a:bodyPr lIns="0" tIns="0" rIns="0" bIns="0" rtlCol="0" anchor="t">
            <a:spAutoFit/>
          </a:bodyPr>
          <a:lstStyle/>
          <a:p>
            <a:pPr algn="ctr">
              <a:lnSpc>
                <a:spcPts val="9896"/>
              </a:lnSpc>
            </a:pPr>
            <a:r>
              <a:rPr lang="en-US" sz="6000" b="1" dirty="0">
                <a:solidFill>
                  <a:srgbClr val="000000"/>
                </a:solidFill>
                <a:latin typeface="Times New Roman" panose="02020603050405020304" pitchFamily="18" charset="0"/>
                <a:ea typeface="Canva Sans Bold"/>
                <a:cs typeface="Times New Roman" panose="02020603050405020304" pitchFamily="18" charset="0"/>
                <a:sym typeface="Canva Sans Bold"/>
              </a:rPr>
              <a:t>Introduction</a:t>
            </a:r>
          </a:p>
        </p:txBody>
      </p:sp>
      <p:sp>
        <p:nvSpPr>
          <p:cNvPr id="15" name="TextBox 15"/>
          <p:cNvSpPr txBox="1"/>
          <p:nvPr/>
        </p:nvSpPr>
        <p:spPr>
          <a:xfrm>
            <a:off x="-31747" y="1562100"/>
            <a:ext cx="11691053" cy="7711342"/>
          </a:xfrm>
          <a:prstGeom prst="rect">
            <a:avLst/>
          </a:prstGeom>
        </p:spPr>
        <p:txBody>
          <a:bodyPr wrap="square" lIns="0" tIns="0" rIns="0" bIns="0" rtlCol="0" anchor="t">
            <a:spAutoFit/>
          </a:bodyPr>
          <a:lstStyle/>
          <a:p>
            <a:pPr marL="539748" lvl="1" indent="-269874" algn="just">
              <a:lnSpc>
                <a:spcPct val="150000"/>
              </a:lnSpc>
              <a:buFont typeface="Arial"/>
              <a:buChar char="•"/>
            </a:pPr>
            <a:r>
              <a:rPr lang="en-US" sz="2400" dirty="0">
                <a:solidFill>
                  <a:srgbClr val="000000"/>
                </a:solidFill>
                <a:latin typeface="Times New Roman" panose="02020603050405020304" pitchFamily="18" charset="0"/>
                <a:ea typeface="Abhaya Libre"/>
                <a:cs typeface="Times New Roman" panose="02020603050405020304" pitchFamily="18" charset="0"/>
                <a:sym typeface="Abhaya Libre"/>
              </a:rPr>
              <a:t>Soldiers operate in physically demanding and extreme environmental conditions where heat, fatigue, and prolonged exertion can compromise their safety and operational readiness. Monitoring individual parameters such as heart rate or temperature may not provide a complete picture of a soldier’s physiological condition. Furthermore, many existing monitoring systems lack a continuously evolving solider-specific physiological model that captures the relationships among multiple physiological signals and represents how a soldier's condition changes over time during recovery.</a:t>
            </a:r>
          </a:p>
          <a:p>
            <a:pPr marL="539748" lvl="1" indent="-269874" algn="just">
              <a:lnSpc>
                <a:spcPct val="150000"/>
              </a:lnSpc>
              <a:buFont typeface="Arial"/>
              <a:buChar char="•"/>
            </a:pPr>
            <a:r>
              <a:rPr lang="en-US" sz="2400" dirty="0">
                <a:solidFill>
                  <a:srgbClr val="000000"/>
                </a:solidFill>
                <a:latin typeface="Times New Roman" panose="02020603050405020304" pitchFamily="18" charset="0"/>
                <a:ea typeface="Abhaya Libre"/>
                <a:cs typeface="Times New Roman" panose="02020603050405020304" pitchFamily="18" charset="0"/>
                <a:sym typeface="Abhaya Libre"/>
              </a:rPr>
              <a:t>WearTwin proposes an AI-driven wearable monitoring system that combines physiological and environmental data to estimate a soldier’s evolving state. Using an ESP32-based wearable, multimodal sensors, AI-based state estimation, and a Soldier Digital Twin, the system aims to identify increasing physiological strain and present actionable insights through a dashboard for medical personnel and commanders</a:t>
            </a:r>
          </a:p>
          <a:p>
            <a:pPr marL="539748" lvl="1" indent="-269874" algn="l">
              <a:lnSpc>
                <a:spcPts val="4399"/>
              </a:lnSpc>
              <a:buFont typeface="Arial"/>
              <a:buChar char="•"/>
            </a:pPr>
            <a:endParaRPr lang="en-US" sz="2600" dirty="0">
              <a:solidFill>
                <a:srgbClr val="000000"/>
              </a:solidFill>
              <a:latin typeface="Arial" panose="020B0604020202020204" pitchFamily="34" charset="0"/>
              <a:ea typeface="Abhaya Libre"/>
              <a:cs typeface="Arial" panose="020B0604020202020204" pitchFamily="34" charset="0"/>
              <a:sym typeface="Abhaya Libre"/>
            </a:endParaRPr>
          </a:p>
          <a:p>
            <a:pPr marL="269874" lvl="1" algn="l">
              <a:lnSpc>
                <a:spcPts val="4399"/>
              </a:lnSpc>
            </a:pPr>
            <a:r>
              <a:rPr lang="en-US" sz="2600" dirty="0">
                <a:solidFill>
                  <a:srgbClr val="000000"/>
                </a:solidFill>
                <a:latin typeface="Arial" panose="020B0604020202020204" pitchFamily="34" charset="0"/>
                <a:ea typeface="Abhaya Libre"/>
                <a:cs typeface="Arial" panose="020B0604020202020204" pitchFamily="34" charset="0"/>
                <a:sym typeface="Abhaya Libre"/>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16477994" y="0"/>
            <a:ext cx="1562612" cy="1673225"/>
            <a:chOff x="0" y="0"/>
            <a:chExt cx="2083482" cy="2230967"/>
          </a:xfrm>
        </p:grpSpPr>
        <p:grpSp>
          <p:nvGrpSpPr>
            <p:cNvPr id="3" name="Group 3"/>
            <p:cNvGrpSpPr/>
            <p:nvPr/>
          </p:nvGrpSpPr>
          <p:grpSpPr>
            <a:xfrm>
              <a:off x="75599" y="0"/>
              <a:ext cx="1932284" cy="2230967"/>
              <a:chOff x="0" y="0"/>
              <a:chExt cx="703982" cy="812800"/>
            </a:xfrm>
          </p:grpSpPr>
          <p:sp>
            <p:nvSpPr>
              <p:cNvPr id="4" name="Freeform 4"/>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txBody>
              <a:bodyPr/>
              <a:lstStyle/>
              <a:p>
                <a:endParaRPr lang="en-IN" dirty="0"/>
              </a:p>
            </p:txBody>
          </p:sp>
          <p:sp>
            <p:nvSpPr>
              <p:cNvPr id="5" name="TextBox 5"/>
              <p:cNvSpPr txBox="1"/>
              <p:nvPr/>
            </p:nvSpPr>
            <p:spPr>
              <a:xfrm>
                <a:off x="0" y="-47625"/>
                <a:ext cx="703982" cy="733425"/>
              </a:xfrm>
              <a:prstGeom prst="rect">
                <a:avLst/>
              </a:prstGeom>
            </p:spPr>
            <p:txBody>
              <a:bodyPr lIns="50800" tIns="50800" rIns="50800" bIns="50800" rtlCol="0" anchor="ctr"/>
              <a:lstStyle/>
              <a:p>
                <a:pPr algn="ctr">
                  <a:lnSpc>
                    <a:spcPts val="2659"/>
                  </a:lnSpc>
                </a:pPr>
                <a:endParaRPr dirty="0"/>
              </a:p>
            </p:txBody>
          </p:sp>
        </p:grpSp>
        <p:sp>
          <p:nvSpPr>
            <p:cNvPr id="6" name="TextBox 6"/>
            <p:cNvSpPr txBox="1"/>
            <p:nvPr/>
          </p:nvSpPr>
          <p:spPr>
            <a:xfrm>
              <a:off x="0" y="409007"/>
              <a:ext cx="2083482" cy="1270099"/>
            </a:xfrm>
            <a:prstGeom prst="rect">
              <a:avLst/>
            </a:prstGeom>
          </p:spPr>
          <p:txBody>
            <a:bodyPr lIns="0" tIns="0" rIns="0" bIns="0" rtlCol="0" anchor="t">
              <a:spAutoFit/>
            </a:bodyPr>
            <a:lstStyle/>
            <a:p>
              <a:pPr algn="ctr">
                <a:lnSpc>
                  <a:spcPts val="7805"/>
                </a:lnSpc>
              </a:pPr>
              <a:r>
                <a:rPr lang="en-US" sz="5575" b="1" dirty="0">
                  <a:solidFill>
                    <a:srgbClr val="000000"/>
                  </a:solidFill>
                  <a:latin typeface="Arimo Bold"/>
                  <a:ea typeface="Arimo Bold"/>
                  <a:cs typeface="Arimo Bold"/>
                  <a:sym typeface="Arimo Bold"/>
                </a:rPr>
                <a:t>5</a:t>
              </a:r>
            </a:p>
          </p:txBody>
        </p:sp>
      </p:grpSp>
      <p:sp>
        <p:nvSpPr>
          <p:cNvPr id="7" name="Freeform 7"/>
          <p:cNvSpPr/>
          <p:nvPr/>
        </p:nvSpPr>
        <p:spPr>
          <a:xfrm>
            <a:off x="16074194" y="0"/>
            <a:ext cx="2213806" cy="1673225"/>
          </a:xfrm>
          <a:custGeom>
            <a:avLst/>
            <a:gdLst/>
            <a:ahLst/>
            <a:cxnLst/>
            <a:rect l="l" t="t" r="r" b="b"/>
            <a:pathLst>
              <a:path w="2213806" h="1673225">
                <a:moveTo>
                  <a:pt x="0" y="0"/>
                </a:moveTo>
                <a:lnTo>
                  <a:pt x="2213806" y="0"/>
                </a:lnTo>
                <a:lnTo>
                  <a:pt x="2213806" y="1673225"/>
                </a:lnTo>
                <a:lnTo>
                  <a:pt x="0" y="1673225"/>
                </a:lnTo>
                <a:lnTo>
                  <a:pt x="0" y="0"/>
                </a:lnTo>
                <a:close/>
              </a:path>
            </a:pathLst>
          </a:custGeom>
          <a:blipFill>
            <a:blip r:embed="rId2"/>
            <a:stretch>
              <a:fillRect/>
            </a:stretch>
          </a:blipFill>
        </p:spPr>
        <p:txBody>
          <a:bodyPr/>
          <a:lstStyle/>
          <a:p>
            <a:endParaRPr lang="en-IN" dirty="0"/>
          </a:p>
        </p:txBody>
      </p:sp>
      <p:grpSp>
        <p:nvGrpSpPr>
          <p:cNvPr id="8" name="Group 8"/>
          <p:cNvGrpSpPr/>
          <p:nvPr/>
        </p:nvGrpSpPr>
        <p:grpSpPr>
          <a:xfrm>
            <a:off x="14289947" y="-75868"/>
            <a:ext cx="1480153" cy="1226189"/>
            <a:chOff x="0" y="-130721"/>
            <a:chExt cx="2083482" cy="2112734"/>
          </a:xfrm>
        </p:grpSpPr>
        <p:sp>
          <p:nvSpPr>
            <p:cNvPr id="11" name="TextBox 11"/>
            <p:cNvSpPr txBox="1"/>
            <p:nvPr/>
          </p:nvSpPr>
          <p:spPr>
            <a:xfrm>
              <a:off x="75599" y="-130721"/>
              <a:ext cx="1932285" cy="2013099"/>
            </a:xfrm>
            <a:prstGeom prst="rect">
              <a:avLst/>
            </a:prstGeom>
          </p:spPr>
          <p:txBody>
            <a:bodyPr lIns="50800" tIns="50800" rIns="50800" bIns="50800" rtlCol="0" anchor="ctr"/>
            <a:lstStyle/>
            <a:p>
              <a:pPr algn="ctr">
                <a:lnSpc>
                  <a:spcPts val="2659"/>
                </a:lnSpc>
              </a:pPr>
              <a:endParaRPr dirty="0"/>
            </a:p>
          </p:txBody>
        </p:sp>
        <p:sp>
          <p:nvSpPr>
            <p:cNvPr id="12" name="TextBox 12"/>
            <p:cNvSpPr txBox="1"/>
            <p:nvPr/>
          </p:nvSpPr>
          <p:spPr>
            <a:xfrm>
              <a:off x="0" y="409006"/>
              <a:ext cx="2083482" cy="1573007"/>
            </a:xfrm>
            <a:prstGeom prst="rect">
              <a:avLst/>
            </a:prstGeom>
          </p:spPr>
          <p:txBody>
            <a:bodyPr lIns="0" tIns="0" rIns="0" bIns="0" rtlCol="0" anchor="t">
              <a:spAutoFit/>
            </a:bodyPr>
            <a:lstStyle/>
            <a:p>
              <a:pPr algn="ctr">
                <a:lnSpc>
                  <a:spcPts val="7805"/>
                </a:lnSpc>
              </a:pPr>
              <a:endParaRPr lang="en-US" sz="5575" b="1" dirty="0">
                <a:solidFill>
                  <a:srgbClr val="000000"/>
                </a:solidFill>
                <a:latin typeface="Arimo Bold"/>
                <a:ea typeface="Arimo Bold"/>
                <a:cs typeface="Arimo Bold"/>
                <a:sym typeface="Arimo Bold"/>
              </a:endParaRPr>
            </a:p>
          </p:txBody>
        </p:sp>
      </p:grpSp>
      <p:sp>
        <p:nvSpPr>
          <p:cNvPr id="13" name="TextBox 13"/>
          <p:cNvSpPr txBox="1"/>
          <p:nvPr/>
        </p:nvSpPr>
        <p:spPr>
          <a:xfrm>
            <a:off x="-202829" y="143981"/>
            <a:ext cx="14302082" cy="1150828"/>
          </a:xfrm>
          <a:prstGeom prst="rect">
            <a:avLst/>
          </a:prstGeom>
        </p:spPr>
        <p:txBody>
          <a:bodyPr wrap="square" lIns="0" tIns="0" rIns="0" bIns="0" rtlCol="0" anchor="t">
            <a:spAutoFit/>
          </a:bodyPr>
          <a:lstStyle/>
          <a:p>
            <a:pPr algn="ctr">
              <a:lnSpc>
                <a:spcPts val="9896"/>
              </a:lnSpc>
            </a:pPr>
            <a:r>
              <a:rPr lang="en-US" sz="6000" b="1" dirty="0">
                <a:solidFill>
                  <a:srgbClr val="000000"/>
                </a:solidFill>
                <a:latin typeface="Times New Roman" panose="02020603050405020304" pitchFamily="18" charset="0"/>
                <a:ea typeface="Canva Sans Bold"/>
                <a:cs typeface="Times New Roman" panose="02020603050405020304" pitchFamily="18" charset="0"/>
                <a:sym typeface="Canva Sans Bold"/>
              </a:rPr>
              <a:t>Problem Statement and Objectives</a:t>
            </a:r>
          </a:p>
        </p:txBody>
      </p:sp>
      <p:sp>
        <p:nvSpPr>
          <p:cNvPr id="14" name="TextBox 14"/>
          <p:cNvSpPr txBox="1"/>
          <p:nvPr/>
        </p:nvSpPr>
        <p:spPr>
          <a:xfrm>
            <a:off x="914400" y="2035580"/>
            <a:ext cx="16230600" cy="5851120"/>
          </a:xfrm>
          <a:prstGeom prst="rect">
            <a:avLst/>
          </a:prstGeom>
        </p:spPr>
        <p:txBody>
          <a:bodyPr wrap="square" lIns="0" tIns="0" rIns="0" bIns="0" rtlCol="0" anchor="t">
            <a:spAutoFit/>
          </a:bodyPr>
          <a:lstStyle/>
          <a:p>
            <a:pPr algn="just">
              <a:lnSpc>
                <a:spcPct val="100000"/>
              </a:lnSpc>
            </a:pPr>
            <a:r>
              <a:rPr lang="en-IN" sz="2400" dirty="0">
                <a:latin typeface="Times New Roman" panose="02020603050405020304" pitchFamily="18" charset="0"/>
                <a:cs typeface="Times New Roman" panose="02020603050405020304" pitchFamily="18" charset="0"/>
              </a:rPr>
              <a:t>To develop an integrated wearable system and Digital Twin model that continuously monitors a soldier's multimodal physiological data in real time, enabling personalized detection of fatigue, thermal strain, and cardio-respiratory stress without relying on subjective self-reporting.</a:t>
            </a:r>
            <a:endParaRPr lang="en-IN" sz="2400" dirty="0">
              <a:solidFill>
                <a:srgbClr val="000000"/>
              </a:solidFill>
              <a:latin typeface="Times New Roman" panose="02020603050405020304" pitchFamily="18" charset="0"/>
              <a:ea typeface="Abhaya Libre"/>
              <a:cs typeface="Times New Roman" panose="02020603050405020304" pitchFamily="18" charset="0"/>
              <a:sym typeface="Abhaya Libre"/>
            </a:endParaRPr>
          </a:p>
          <a:p>
            <a:pPr algn="just">
              <a:lnSpc>
                <a:spcPct val="100000"/>
              </a:lnSpc>
            </a:pPr>
            <a:endParaRPr lang="en-IN" sz="2400" dirty="0">
              <a:solidFill>
                <a:srgbClr val="000000"/>
              </a:solidFill>
              <a:latin typeface="Times New Roman" panose="02020603050405020304" pitchFamily="18" charset="0"/>
              <a:ea typeface="Abhaya Libre"/>
              <a:cs typeface="Times New Roman" panose="02020603050405020304" pitchFamily="18" charset="0"/>
              <a:sym typeface="Abhaya Libre"/>
            </a:endParaRPr>
          </a:p>
          <a:p>
            <a:pPr marL="285750" lvl="0" indent="-28575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Design a multimodal wearable monitoring unit using an ESP32 to acquire ECG, PPG, SpO₂, respiration, skin temperature, and IMU motion data. </a:t>
            </a:r>
          </a:p>
          <a:p>
            <a:pPr marL="285750" lvl="0" indent="-28575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Apply digital signal processing (DSP) techniques to extract clean, reliable physiological features and filter out motion-induced artifacts. </a:t>
            </a:r>
          </a:p>
          <a:p>
            <a:pPr marL="285750" lvl="0" indent="-28575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Develop a continuous Digital Twin framework that integrates multi-sensor data to represent a soldier’s personalized physiological and functional state. </a:t>
            </a:r>
          </a:p>
          <a:p>
            <a:pPr marL="285750" lvl="0" indent="-28575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Implement AI-based analysis to estimate operational readiness and classify conditions like fatigue, thermal strain, and cardio-respiratory stress. </a:t>
            </a:r>
          </a:p>
          <a:p>
            <a:pPr marL="285750" lvl="0" indent="-28575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Provide actionable decision-support information to commanders and medical personnel for casualty triage and squad-level prioritization. </a:t>
            </a:r>
          </a:p>
          <a:p>
            <a:pPr marL="285750" lvl="0" indent="-28575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Build an interactive, real-time tactical dashboard to visualize individual telemetry, historical trends, and dynamic health alerts. </a:t>
            </a:r>
          </a:p>
          <a:p>
            <a:pPr algn="just">
              <a:lnSpc>
                <a:spcPct val="100000"/>
              </a:lnSpc>
            </a:pPr>
            <a:endParaRPr lang="en-US" sz="1600" dirty="0">
              <a:solidFill>
                <a:srgbClr val="000000"/>
              </a:solidFill>
              <a:latin typeface="Times New Roman" panose="02020603050405020304" pitchFamily="18" charset="0"/>
              <a:ea typeface="Abhaya Libre"/>
              <a:cs typeface="Times New Roman" panose="02020603050405020304" pitchFamily="18" charset="0"/>
              <a:sym typeface="Abhaya Libr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4CFD080F-CBEB-BDDF-CDBC-C17CDD43880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BD75550-90D5-CE1B-FE62-64564BFE0FD3}"/>
              </a:ext>
            </a:extLst>
          </p:cNvPr>
          <p:cNvGrpSpPr/>
          <p:nvPr/>
        </p:nvGrpSpPr>
        <p:grpSpPr>
          <a:xfrm>
            <a:off x="16477994" y="0"/>
            <a:ext cx="1562612" cy="1673225"/>
            <a:chOff x="0" y="0"/>
            <a:chExt cx="2083482" cy="2230967"/>
          </a:xfrm>
        </p:grpSpPr>
        <p:grpSp>
          <p:nvGrpSpPr>
            <p:cNvPr id="3" name="Group 3">
              <a:extLst>
                <a:ext uri="{FF2B5EF4-FFF2-40B4-BE49-F238E27FC236}">
                  <a16:creationId xmlns:a16="http://schemas.microsoft.com/office/drawing/2014/main" id="{2C5AF478-5D05-3CFF-035D-0233CFE32B8C}"/>
                </a:ext>
              </a:extLst>
            </p:cNvPr>
            <p:cNvGrpSpPr/>
            <p:nvPr/>
          </p:nvGrpSpPr>
          <p:grpSpPr>
            <a:xfrm>
              <a:off x="75599" y="0"/>
              <a:ext cx="1932284" cy="2230967"/>
              <a:chOff x="0" y="0"/>
              <a:chExt cx="703982" cy="812800"/>
            </a:xfrm>
          </p:grpSpPr>
          <p:sp>
            <p:nvSpPr>
              <p:cNvPr id="4" name="Freeform 4">
                <a:extLst>
                  <a:ext uri="{FF2B5EF4-FFF2-40B4-BE49-F238E27FC236}">
                    <a16:creationId xmlns:a16="http://schemas.microsoft.com/office/drawing/2014/main" id="{1762FF8D-8EA6-DE9A-BD98-B4F40BC76CF1}"/>
                  </a:ext>
                </a:extLst>
              </p:cNvPr>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txBody>
              <a:bodyPr/>
              <a:lstStyle/>
              <a:p>
                <a:endParaRPr lang="en-IN" dirty="0"/>
              </a:p>
            </p:txBody>
          </p:sp>
          <p:sp>
            <p:nvSpPr>
              <p:cNvPr id="5" name="TextBox 5">
                <a:extLst>
                  <a:ext uri="{FF2B5EF4-FFF2-40B4-BE49-F238E27FC236}">
                    <a16:creationId xmlns:a16="http://schemas.microsoft.com/office/drawing/2014/main" id="{1AEB37E8-E6A5-7228-29F0-E757E75DC5EC}"/>
                  </a:ext>
                </a:extLst>
              </p:cNvPr>
              <p:cNvSpPr txBox="1"/>
              <p:nvPr/>
            </p:nvSpPr>
            <p:spPr>
              <a:xfrm>
                <a:off x="0" y="-47625"/>
                <a:ext cx="703982" cy="733425"/>
              </a:xfrm>
              <a:prstGeom prst="rect">
                <a:avLst/>
              </a:prstGeom>
            </p:spPr>
            <p:txBody>
              <a:bodyPr lIns="50800" tIns="50800" rIns="50800" bIns="50800" rtlCol="0" anchor="ctr"/>
              <a:lstStyle/>
              <a:p>
                <a:pPr algn="ctr">
                  <a:lnSpc>
                    <a:spcPts val="2659"/>
                  </a:lnSpc>
                </a:pPr>
                <a:endParaRPr dirty="0"/>
              </a:p>
            </p:txBody>
          </p:sp>
        </p:grpSp>
        <p:sp>
          <p:nvSpPr>
            <p:cNvPr id="6" name="TextBox 6">
              <a:extLst>
                <a:ext uri="{FF2B5EF4-FFF2-40B4-BE49-F238E27FC236}">
                  <a16:creationId xmlns:a16="http://schemas.microsoft.com/office/drawing/2014/main" id="{E8042832-06EA-8897-D549-5D30A8F1810D}"/>
                </a:ext>
              </a:extLst>
            </p:cNvPr>
            <p:cNvSpPr txBox="1"/>
            <p:nvPr/>
          </p:nvSpPr>
          <p:spPr>
            <a:xfrm>
              <a:off x="0" y="409007"/>
              <a:ext cx="2083482" cy="1270099"/>
            </a:xfrm>
            <a:prstGeom prst="rect">
              <a:avLst/>
            </a:prstGeom>
          </p:spPr>
          <p:txBody>
            <a:bodyPr lIns="0" tIns="0" rIns="0" bIns="0" rtlCol="0" anchor="t">
              <a:spAutoFit/>
            </a:bodyPr>
            <a:lstStyle/>
            <a:p>
              <a:pPr algn="ctr">
                <a:lnSpc>
                  <a:spcPts val="7805"/>
                </a:lnSpc>
              </a:pPr>
              <a:r>
                <a:rPr lang="en-US" sz="5575" b="1" dirty="0">
                  <a:solidFill>
                    <a:srgbClr val="000000"/>
                  </a:solidFill>
                  <a:latin typeface="Arimo Bold"/>
                  <a:ea typeface="Arimo Bold"/>
                  <a:cs typeface="Arimo Bold"/>
                  <a:sym typeface="Arimo Bold"/>
                </a:rPr>
                <a:t>5</a:t>
              </a:r>
            </a:p>
          </p:txBody>
        </p:sp>
      </p:grpSp>
      <p:sp>
        <p:nvSpPr>
          <p:cNvPr id="7" name="Freeform 7">
            <a:extLst>
              <a:ext uri="{FF2B5EF4-FFF2-40B4-BE49-F238E27FC236}">
                <a16:creationId xmlns:a16="http://schemas.microsoft.com/office/drawing/2014/main" id="{1F0E7AB8-AB50-6398-76A3-21C0E6B7D2EC}"/>
              </a:ext>
            </a:extLst>
          </p:cNvPr>
          <p:cNvSpPr/>
          <p:nvPr/>
        </p:nvSpPr>
        <p:spPr>
          <a:xfrm>
            <a:off x="16074194" y="0"/>
            <a:ext cx="2213806" cy="1673225"/>
          </a:xfrm>
          <a:custGeom>
            <a:avLst/>
            <a:gdLst/>
            <a:ahLst/>
            <a:cxnLst/>
            <a:rect l="l" t="t" r="r" b="b"/>
            <a:pathLst>
              <a:path w="2213806" h="1673225">
                <a:moveTo>
                  <a:pt x="0" y="0"/>
                </a:moveTo>
                <a:lnTo>
                  <a:pt x="2213806" y="0"/>
                </a:lnTo>
                <a:lnTo>
                  <a:pt x="2213806" y="1673225"/>
                </a:lnTo>
                <a:lnTo>
                  <a:pt x="0" y="1673225"/>
                </a:lnTo>
                <a:lnTo>
                  <a:pt x="0" y="0"/>
                </a:lnTo>
                <a:close/>
              </a:path>
            </a:pathLst>
          </a:custGeom>
          <a:blipFill>
            <a:blip r:embed="rId2"/>
            <a:stretch>
              <a:fillRect/>
            </a:stretch>
          </a:blipFill>
        </p:spPr>
        <p:txBody>
          <a:bodyPr/>
          <a:lstStyle/>
          <a:p>
            <a:endParaRPr lang="en-IN" dirty="0"/>
          </a:p>
        </p:txBody>
      </p:sp>
      <p:sp>
        <p:nvSpPr>
          <p:cNvPr id="13" name="TextBox 13"/>
          <p:cNvSpPr txBox="1"/>
          <p:nvPr/>
        </p:nvSpPr>
        <p:spPr>
          <a:xfrm>
            <a:off x="2761907" y="177564"/>
            <a:ext cx="13800000" cy="1700000"/>
          </a:xfrm>
          <a:prstGeom prst="rect">
            <a:avLst/>
          </a:prstGeom>
        </p:spPr>
        <p:txBody>
          <a:bodyPr wrap="square" lIns="228600" tIns="45720" rIns="228600" bIns="45720" rtlCol="0" anchor="t">
            <a:normAutofit/>
          </a:bodyPr>
          <a:lstStyle/>
          <a:p>
            <a:pPr>
              <a:lnSpc>
                <a:spcPts val="8000"/>
              </a:lnSpc>
            </a:pPr>
            <a:r>
              <a:rPr lang="en-US" sz="5000" b="1" dirty="0">
                <a:solidFill>
                  <a:srgbClr val="000000"/>
                </a:solidFill>
                <a:latin typeface="Canva Sans Bold"/>
                <a:ea typeface="Canva Sans Bold"/>
                <a:cs typeface="Canva Sans Bold"/>
                <a:sym typeface="Canva Sans Bold"/>
              </a:rPr>
              <a:t>           Architecture and Working</a:t>
            </a:r>
          </a:p>
        </p:txBody>
      </p:sp>
      <p:sp>
        <p:nvSpPr>
          <p:cNvPr id="20" name="Rect 20"/>
          <p:cNvSpPr/>
          <p:nvPr/>
        </p:nvSpPr>
        <p:spPr>
          <a:xfrm>
            <a:off x="405943" y="1614811"/>
            <a:ext cx="8350000" cy="7917900"/>
          </a:xfrm>
          <a:prstGeom prst="rect">
            <a:avLst/>
          </a:prstGeom>
          <a:solidFill>
            <a:srgbClr val="EAF3F6"/>
          </a:solidFill>
          <a:ln>
            <a:noFill/>
          </a:ln>
        </p:spPr>
        <p:txBody>
          <a:bodyPr/>
          <a:lstStyle/>
          <a:p>
            <a:endParaRPr dirty="0"/>
          </a:p>
        </p:txBody>
      </p:sp>
      <p:sp>
        <p:nvSpPr>
          <p:cNvPr id="21" name="TextBox 21"/>
          <p:cNvSpPr txBox="1"/>
          <p:nvPr/>
        </p:nvSpPr>
        <p:spPr>
          <a:xfrm>
            <a:off x="473529" y="1614811"/>
            <a:ext cx="8114471" cy="6592574"/>
          </a:xfrm>
          <a:prstGeom prst="rect">
            <a:avLst/>
          </a:prstGeom>
        </p:spPr>
        <p:txBody>
          <a:bodyPr wrap="square" lIns="91440" tIns="45720" rIns="91440" bIns="45720" rtlCol="0" anchor="t">
            <a:spAutoFit/>
          </a:bodyPr>
          <a:lstStyle/>
          <a:p>
            <a:pPr algn="just">
              <a:lnSpc>
                <a:spcPct val="100000"/>
              </a:lnSpc>
            </a:pPr>
            <a:r>
              <a:rPr lang="en-US" sz="2400" b="1" dirty="0">
                <a:solidFill>
                  <a:srgbClr val="C00000"/>
                </a:solidFill>
                <a:latin typeface="Times New Roman" panose="02020603050405020304" pitchFamily="18" charset="0"/>
                <a:ea typeface="Abhaya Libre"/>
                <a:cs typeface="Times New Roman" panose="02020603050405020304" pitchFamily="18" charset="0"/>
                <a:sym typeface="Abhaya Libre"/>
              </a:rPr>
              <a:t>5.1  System Architecture and Requirement Analysis</a:t>
            </a:r>
          </a:p>
          <a:p>
            <a:pPr algn="just">
              <a:lnSpc>
                <a:spcPct val="100000"/>
              </a:lnSpc>
            </a:pPr>
            <a:r>
              <a:rPr lang="en-US" sz="2400" dirty="0">
                <a:solidFill>
                  <a:srgbClr val="000000"/>
                </a:solidFill>
                <a:latin typeface="Times New Roman" panose="02020603050405020304" pitchFamily="18" charset="0"/>
                <a:ea typeface="Abhaya Libre"/>
                <a:cs typeface="Times New Roman" panose="02020603050405020304" pitchFamily="18" charset="0"/>
                <a:sym typeface="Abhaya Libre"/>
              </a:rPr>
              <a:t>The system architecture of WearTwin was established as an AI-assisted wearable monitoring and digital-twin prototype for physiological-state estimation and readiness monitoring. The architecture integrates data acquisition, preprocessing, feature engineering, synthetic-data generation, machine-learning inference, and dashboard visualisation into a unified pipeline.</a:t>
            </a:r>
          </a:p>
          <a:p>
            <a:pPr>
              <a:lnSpc>
                <a:spcPct val="80000"/>
              </a:lnSpc>
            </a:pPr>
            <a:endParaRPr lang="en-US" sz="2400" dirty="0">
              <a:latin typeface="Times New Roman" panose="02020603050405020304" pitchFamily="18" charset="0"/>
              <a:cs typeface="Times New Roman" panose="02020603050405020304" pitchFamily="18" charset="0"/>
            </a:endParaRPr>
          </a:p>
          <a:p>
            <a:pPr algn="just">
              <a:lnSpc>
                <a:spcPct val="100000"/>
              </a:lnSpc>
            </a:pPr>
            <a:r>
              <a:rPr lang="en-US" sz="2400" b="1" dirty="0">
                <a:solidFill>
                  <a:srgbClr val="C00000"/>
                </a:solidFill>
                <a:latin typeface="Times New Roman" panose="02020603050405020304" pitchFamily="18" charset="0"/>
                <a:ea typeface="Abhaya Libre"/>
                <a:cs typeface="Times New Roman" panose="02020603050405020304" pitchFamily="18" charset="0"/>
                <a:sym typeface="Abhaya Libre"/>
              </a:rPr>
              <a:t>5.2  Physiological Feature Engineering</a:t>
            </a:r>
          </a:p>
          <a:p>
            <a:pPr algn="just">
              <a:lnSpc>
                <a:spcPct val="100000"/>
              </a:lnSpc>
            </a:pPr>
            <a:r>
              <a:rPr lang="en-US" sz="2400" dirty="0">
                <a:solidFill>
                  <a:srgbClr val="000000"/>
                </a:solidFill>
                <a:latin typeface="Times New Roman" panose="02020603050405020304" pitchFamily="18" charset="0"/>
                <a:ea typeface="Abhaya Libre"/>
                <a:cs typeface="Times New Roman" panose="02020603050405020304" pitchFamily="18" charset="0"/>
                <a:sym typeface="Abhaya Libre"/>
              </a:rPr>
              <a:t>A feature-engineering module was developed to transform physiological and environmental measurements into a structured set of 34 features. These include sensor measurements, deviations from individual resting baselines, rolling statistical summaries, temporal trends, and activity-related indicators. The pipeline supports causal processing using current and preceding observations, with an initial 10-minute calibration period for establishing individual baselines.</a:t>
            </a:r>
          </a:p>
          <a:p>
            <a:pPr>
              <a:lnSpc>
                <a:spcPct val="80000"/>
              </a:lnSpc>
            </a:pPr>
            <a:endParaRPr lang="en-US" sz="2400" dirty="0">
              <a:latin typeface="Times New Roman" panose="02020603050405020304" pitchFamily="18" charset="0"/>
              <a:cs typeface="Times New Roman" panose="02020603050405020304" pitchFamily="18" charset="0"/>
            </a:endParaRPr>
          </a:p>
        </p:txBody>
      </p:sp>
      <p:sp>
        <p:nvSpPr>
          <p:cNvPr id="22" name="Rect 22"/>
          <p:cNvSpPr/>
          <p:nvPr/>
        </p:nvSpPr>
        <p:spPr>
          <a:xfrm>
            <a:off x="9094000" y="1950000"/>
            <a:ext cx="8350000" cy="4500000"/>
          </a:xfrm>
          <a:prstGeom prst="rect">
            <a:avLst/>
          </a:prstGeom>
          <a:solidFill>
            <a:srgbClr val="F0EDE4"/>
          </a:solidFill>
          <a:ln>
            <a:noFill/>
          </a:ln>
        </p:spPr>
        <p:txBody>
          <a:bodyPr/>
          <a:lstStyle/>
          <a:p>
            <a:endParaRPr dirty="0"/>
          </a:p>
        </p:txBody>
      </p:sp>
      <p:sp>
        <p:nvSpPr>
          <p:cNvPr id="23" name="TextBox 23"/>
          <p:cNvSpPr txBox="1"/>
          <p:nvPr/>
        </p:nvSpPr>
        <p:spPr>
          <a:xfrm>
            <a:off x="9135953" y="1556655"/>
            <a:ext cx="8300000" cy="8808565"/>
          </a:xfrm>
          <a:prstGeom prst="rect">
            <a:avLst/>
          </a:prstGeom>
        </p:spPr>
        <p:txBody>
          <a:bodyPr lIns="91440" tIns="45720" rIns="91440" bIns="45720" rtlCol="0" anchor="t">
            <a:spAutoFit/>
          </a:bodyPr>
          <a:lstStyle/>
          <a:p>
            <a:pPr algn="just">
              <a:lnSpc>
                <a:spcPct val="100000"/>
              </a:lnSpc>
            </a:pPr>
            <a:r>
              <a:rPr lang="en-US" sz="2400" b="1" dirty="0">
                <a:solidFill>
                  <a:srgbClr val="C00000"/>
                </a:solidFill>
                <a:latin typeface="Times New Roman" panose="02020603050405020304" pitchFamily="18" charset="0"/>
                <a:ea typeface="Abhaya Libre"/>
                <a:cs typeface="Times New Roman" panose="02020603050405020304" pitchFamily="18" charset="0"/>
                <a:sym typeface="Abhaya Libre"/>
              </a:rPr>
              <a:t>5.3  Synthetic Dataset Generation</a:t>
            </a:r>
          </a:p>
          <a:p>
            <a:pPr algn="just">
              <a:lnSpc>
                <a:spcPct val="100000"/>
              </a:lnSpc>
            </a:pPr>
            <a:r>
              <a:rPr lang="en-US" sz="2400" dirty="0">
                <a:solidFill>
                  <a:srgbClr val="000000"/>
                </a:solidFill>
                <a:latin typeface="Times New Roman" panose="02020603050405020304" pitchFamily="18" charset="0"/>
                <a:ea typeface="Abhaya Libre"/>
                <a:cs typeface="Times New Roman" panose="02020603050405020304" pitchFamily="18" charset="0"/>
                <a:sym typeface="Abhaya Libre"/>
              </a:rPr>
              <a:t>A synthetic dataset was generated using the engineered feature representation to support supervised model development and preliminary evaluation. The dataset incorporates simulated individual variability, sensor noise, motion artefacts, and sensor dropouts. Eight input parameters are considered: heart rate, heart-rate variability (RMSSD), peripheral oxygen saturation (SpO₂), respiratory rate, skin temperature, ambient temperature, relative humidity, and IMU acceleration. Simulated physiological-state labels and readiness targets were used for model training.</a:t>
            </a:r>
          </a:p>
          <a:p>
            <a:pPr>
              <a:lnSpc>
                <a:spcPct val="80000"/>
              </a:lnSpc>
            </a:pPr>
            <a:endParaRPr lang="en-US" sz="2400" dirty="0">
              <a:latin typeface="Times New Roman" panose="02020603050405020304" pitchFamily="18" charset="0"/>
              <a:cs typeface="Times New Roman" panose="02020603050405020304" pitchFamily="18" charset="0"/>
            </a:endParaRPr>
          </a:p>
          <a:p>
            <a:pPr algn="just">
              <a:lnSpc>
                <a:spcPct val="100000"/>
              </a:lnSpc>
            </a:pPr>
            <a:r>
              <a:rPr lang="en-US" sz="2400" b="1" dirty="0">
                <a:solidFill>
                  <a:srgbClr val="C00000"/>
                </a:solidFill>
                <a:latin typeface="Times New Roman" panose="02020603050405020304" pitchFamily="18" charset="0"/>
                <a:ea typeface="Abhaya Libre"/>
                <a:cs typeface="Times New Roman" panose="02020603050405020304" pitchFamily="18" charset="0"/>
                <a:sym typeface="Abhaya Libre"/>
              </a:rPr>
              <a:t>5.4  Machine-Learning Model Development</a:t>
            </a:r>
          </a:p>
          <a:p>
            <a:pPr algn="just">
              <a:lnSpc>
                <a:spcPct val="100000"/>
              </a:lnSpc>
            </a:pPr>
            <a:r>
              <a:rPr lang="en-US" sz="2400" dirty="0">
                <a:solidFill>
                  <a:srgbClr val="000000"/>
                </a:solidFill>
                <a:latin typeface="Times New Roman" panose="02020603050405020304" pitchFamily="18" charset="0"/>
                <a:ea typeface="Abhaya Libre"/>
                <a:cs typeface="Times New Roman" panose="02020603050405020304" pitchFamily="18" charset="0"/>
                <a:sym typeface="Abhaya Libre"/>
              </a:rPr>
              <a:t>A machine-learning pipeline based on HistGradientBoosting was developed for physiological-state classification and readiness-score estimation. The classifier identifies four simulated states: Normal, Fatigue, Thermal Strain, and Cardio-Respiratory Stress, while the regression model estimates readiness on a scale of 0–100. The models were trained using synthetic data representing 48 simulated individuals, evaluated on 12 held-out individuals, and additionally assessed on 12 individuals representing a shifted simulated population. Sensor-loss augmentation was incorporated to examine model behaviour under partial input-channel unavailability.</a:t>
            </a:r>
          </a:p>
          <a:p>
            <a:pPr>
              <a:lnSpc>
                <a:spcPct val="8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7018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a:extLst>
            <a:ext uri="{FF2B5EF4-FFF2-40B4-BE49-F238E27FC236}">
              <a16:creationId xmlns:a16="http://schemas.microsoft.com/office/drawing/2014/main" id="{4CFD080F-CBEB-BDDF-CDBC-C17CDD43880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BD75550-90D5-CE1B-FE62-64564BFE0FD3}"/>
              </a:ext>
            </a:extLst>
          </p:cNvPr>
          <p:cNvGrpSpPr/>
          <p:nvPr/>
        </p:nvGrpSpPr>
        <p:grpSpPr>
          <a:xfrm>
            <a:off x="16477994" y="0"/>
            <a:ext cx="1562612" cy="1673225"/>
            <a:chOff x="0" y="0"/>
            <a:chExt cx="2083482" cy="2230967"/>
          </a:xfrm>
        </p:grpSpPr>
        <p:grpSp>
          <p:nvGrpSpPr>
            <p:cNvPr id="3" name="Group 3">
              <a:extLst>
                <a:ext uri="{FF2B5EF4-FFF2-40B4-BE49-F238E27FC236}">
                  <a16:creationId xmlns:a16="http://schemas.microsoft.com/office/drawing/2014/main" id="{2C5AF478-5D05-3CFF-035D-0233CFE32B8C}"/>
                </a:ext>
              </a:extLst>
            </p:cNvPr>
            <p:cNvGrpSpPr/>
            <p:nvPr/>
          </p:nvGrpSpPr>
          <p:grpSpPr>
            <a:xfrm>
              <a:off x="75599" y="0"/>
              <a:ext cx="1932284" cy="2230967"/>
              <a:chOff x="0" y="0"/>
              <a:chExt cx="703982" cy="812800"/>
            </a:xfrm>
          </p:grpSpPr>
          <p:sp>
            <p:nvSpPr>
              <p:cNvPr id="4" name="Freeform 4">
                <a:extLst>
                  <a:ext uri="{FF2B5EF4-FFF2-40B4-BE49-F238E27FC236}">
                    <a16:creationId xmlns:a16="http://schemas.microsoft.com/office/drawing/2014/main" id="{1762FF8D-8EA6-DE9A-BD98-B4F40BC76CF1}"/>
                  </a:ext>
                </a:extLst>
              </p:cNvPr>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txBody>
              <a:bodyPr/>
              <a:lstStyle/>
              <a:p>
                <a:endParaRPr lang="en-IN" dirty="0"/>
              </a:p>
            </p:txBody>
          </p:sp>
          <p:sp>
            <p:nvSpPr>
              <p:cNvPr id="5" name="TextBox 5">
                <a:extLst>
                  <a:ext uri="{FF2B5EF4-FFF2-40B4-BE49-F238E27FC236}">
                    <a16:creationId xmlns:a16="http://schemas.microsoft.com/office/drawing/2014/main" id="{1AEB37E8-E6A5-7228-29F0-E757E75DC5EC}"/>
                  </a:ext>
                </a:extLst>
              </p:cNvPr>
              <p:cNvSpPr txBox="1"/>
              <p:nvPr/>
            </p:nvSpPr>
            <p:spPr>
              <a:xfrm>
                <a:off x="0" y="-47625"/>
                <a:ext cx="703982" cy="733425"/>
              </a:xfrm>
              <a:prstGeom prst="rect">
                <a:avLst/>
              </a:prstGeom>
            </p:spPr>
            <p:txBody>
              <a:bodyPr lIns="50800" tIns="50800" rIns="50800" bIns="50800" rtlCol="0" anchor="ctr"/>
              <a:lstStyle/>
              <a:p>
                <a:pPr algn="ctr">
                  <a:lnSpc>
                    <a:spcPts val="2659"/>
                  </a:lnSpc>
                </a:pPr>
                <a:endParaRPr dirty="0"/>
              </a:p>
            </p:txBody>
          </p:sp>
        </p:grpSp>
        <p:sp>
          <p:nvSpPr>
            <p:cNvPr id="6" name="TextBox 6">
              <a:extLst>
                <a:ext uri="{FF2B5EF4-FFF2-40B4-BE49-F238E27FC236}">
                  <a16:creationId xmlns:a16="http://schemas.microsoft.com/office/drawing/2014/main" id="{E8042832-06EA-8897-D549-5D30A8F1810D}"/>
                </a:ext>
              </a:extLst>
            </p:cNvPr>
            <p:cNvSpPr txBox="1"/>
            <p:nvPr/>
          </p:nvSpPr>
          <p:spPr>
            <a:xfrm>
              <a:off x="0" y="409007"/>
              <a:ext cx="2083482" cy="1270099"/>
            </a:xfrm>
            <a:prstGeom prst="rect">
              <a:avLst/>
            </a:prstGeom>
          </p:spPr>
          <p:txBody>
            <a:bodyPr lIns="0" tIns="0" rIns="0" bIns="0" rtlCol="0" anchor="t">
              <a:spAutoFit/>
            </a:bodyPr>
            <a:lstStyle/>
            <a:p>
              <a:pPr algn="ctr">
                <a:lnSpc>
                  <a:spcPts val="7805"/>
                </a:lnSpc>
              </a:pPr>
              <a:r>
                <a:rPr lang="en-US" sz="5575" b="1" dirty="0">
                  <a:solidFill>
                    <a:srgbClr val="000000"/>
                  </a:solidFill>
                  <a:latin typeface="Arimo Bold"/>
                  <a:ea typeface="Arimo Bold"/>
                  <a:cs typeface="Arimo Bold"/>
                  <a:sym typeface="Arimo Bold"/>
                </a:rPr>
                <a:t>5</a:t>
              </a:r>
            </a:p>
          </p:txBody>
        </p:sp>
      </p:grpSp>
      <p:sp>
        <p:nvSpPr>
          <p:cNvPr id="7" name="Freeform 7">
            <a:extLst>
              <a:ext uri="{FF2B5EF4-FFF2-40B4-BE49-F238E27FC236}">
                <a16:creationId xmlns:a16="http://schemas.microsoft.com/office/drawing/2014/main" id="{1F0E7AB8-AB50-6398-76A3-21C0E6B7D2EC}"/>
              </a:ext>
            </a:extLst>
          </p:cNvPr>
          <p:cNvSpPr/>
          <p:nvPr/>
        </p:nvSpPr>
        <p:spPr>
          <a:xfrm>
            <a:off x="16074194" y="0"/>
            <a:ext cx="2213806" cy="1673225"/>
          </a:xfrm>
          <a:custGeom>
            <a:avLst/>
            <a:gdLst/>
            <a:ahLst/>
            <a:cxnLst/>
            <a:rect l="l" t="t" r="r" b="b"/>
            <a:pathLst>
              <a:path w="2213806" h="1673225">
                <a:moveTo>
                  <a:pt x="0" y="0"/>
                </a:moveTo>
                <a:lnTo>
                  <a:pt x="2213806" y="0"/>
                </a:lnTo>
                <a:lnTo>
                  <a:pt x="2213806" y="1673225"/>
                </a:lnTo>
                <a:lnTo>
                  <a:pt x="0" y="1673225"/>
                </a:lnTo>
                <a:lnTo>
                  <a:pt x="0" y="0"/>
                </a:lnTo>
                <a:close/>
              </a:path>
            </a:pathLst>
          </a:custGeom>
          <a:blipFill>
            <a:blip r:embed="rId2"/>
            <a:stretch>
              <a:fillRect/>
            </a:stretch>
          </a:blipFill>
        </p:spPr>
        <p:txBody>
          <a:bodyPr/>
          <a:lstStyle/>
          <a:p>
            <a:endParaRPr lang="en-IN" dirty="0"/>
          </a:p>
        </p:txBody>
      </p:sp>
      <p:grpSp>
        <p:nvGrpSpPr>
          <p:cNvPr id="8" name="Group 8">
            <a:extLst>
              <a:ext uri="{FF2B5EF4-FFF2-40B4-BE49-F238E27FC236}">
                <a16:creationId xmlns:a16="http://schemas.microsoft.com/office/drawing/2014/main" id="{22EC65AD-2792-1B7F-4722-76F22E321C7E}"/>
              </a:ext>
            </a:extLst>
          </p:cNvPr>
          <p:cNvGrpSpPr/>
          <p:nvPr/>
        </p:nvGrpSpPr>
        <p:grpSpPr>
          <a:xfrm>
            <a:off x="14289947" y="0"/>
            <a:ext cx="1562612" cy="1673225"/>
            <a:chOff x="0" y="0"/>
            <a:chExt cx="2083482" cy="2230967"/>
          </a:xfrm>
        </p:grpSpPr>
        <p:grpSp>
          <p:nvGrpSpPr>
            <p:cNvPr id="9" name="Group 9">
              <a:extLst>
                <a:ext uri="{FF2B5EF4-FFF2-40B4-BE49-F238E27FC236}">
                  <a16:creationId xmlns:a16="http://schemas.microsoft.com/office/drawing/2014/main" id="{5B79973C-4FE6-197A-A9A7-FE340DC7CDAE}"/>
                </a:ext>
              </a:extLst>
            </p:cNvPr>
            <p:cNvGrpSpPr/>
            <p:nvPr/>
          </p:nvGrpSpPr>
          <p:grpSpPr>
            <a:xfrm>
              <a:off x="75599" y="0"/>
              <a:ext cx="1932284" cy="2230967"/>
              <a:chOff x="0" y="0"/>
              <a:chExt cx="703982" cy="812800"/>
            </a:xfrm>
          </p:grpSpPr>
          <p:sp>
            <p:nvSpPr>
              <p:cNvPr id="10" name="Freeform 10">
                <a:extLst>
                  <a:ext uri="{FF2B5EF4-FFF2-40B4-BE49-F238E27FC236}">
                    <a16:creationId xmlns:a16="http://schemas.microsoft.com/office/drawing/2014/main" id="{B6840DEB-C765-EB55-480F-1147AFA79170}"/>
                  </a:ext>
                </a:extLst>
              </p:cNvPr>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txBody>
              <a:bodyPr/>
              <a:lstStyle/>
              <a:p>
                <a:endParaRPr lang="en-IN" dirty="0"/>
              </a:p>
            </p:txBody>
          </p:sp>
          <p:sp>
            <p:nvSpPr>
              <p:cNvPr id="11" name="TextBox 11">
                <a:extLst>
                  <a:ext uri="{FF2B5EF4-FFF2-40B4-BE49-F238E27FC236}">
                    <a16:creationId xmlns:a16="http://schemas.microsoft.com/office/drawing/2014/main" id="{B490F571-321A-E44F-9278-ABE4A6C23BA6}"/>
                  </a:ext>
                </a:extLst>
              </p:cNvPr>
              <p:cNvSpPr txBox="1"/>
              <p:nvPr/>
            </p:nvSpPr>
            <p:spPr>
              <a:xfrm>
                <a:off x="0" y="-47625"/>
                <a:ext cx="703982" cy="733425"/>
              </a:xfrm>
              <a:prstGeom prst="rect">
                <a:avLst/>
              </a:prstGeom>
            </p:spPr>
            <p:txBody>
              <a:bodyPr lIns="50800" tIns="50800" rIns="50800" bIns="50800" rtlCol="0" anchor="ctr"/>
              <a:lstStyle/>
              <a:p>
                <a:pPr algn="ctr">
                  <a:lnSpc>
                    <a:spcPts val="2659"/>
                  </a:lnSpc>
                </a:pPr>
                <a:endParaRPr dirty="0"/>
              </a:p>
            </p:txBody>
          </p:sp>
        </p:grpSp>
        <p:sp>
          <p:nvSpPr>
            <p:cNvPr id="12" name="TextBox 12">
              <a:extLst>
                <a:ext uri="{FF2B5EF4-FFF2-40B4-BE49-F238E27FC236}">
                  <a16:creationId xmlns:a16="http://schemas.microsoft.com/office/drawing/2014/main" id="{F97AF186-7248-1FCB-3429-9EF39EEE8862}"/>
                </a:ext>
              </a:extLst>
            </p:cNvPr>
            <p:cNvSpPr txBox="1"/>
            <p:nvPr/>
          </p:nvSpPr>
          <p:spPr>
            <a:xfrm>
              <a:off x="0" y="409007"/>
              <a:ext cx="2083482" cy="1217256"/>
            </a:xfrm>
            <a:prstGeom prst="rect">
              <a:avLst/>
            </a:prstGeom>
          </p:spPr>
          <p:txBody>
            <a:bodyPr lIns="0" tIns="0" rIns="0" bIns="0" rtlCol="0" anchor="t">
              <a:spAutoFit/>
            </a:bodyPr>
            <a:lstStyle/>
            <a:p>
              <a:pPr algn="ctr">
                <a:lnSpc>
                  <a:spcPts val="7805"/>
                </a:lnSpc>
              </a:pPr>
              <a:r>
                <a:rPr lang="en-US" sz="5575" b="1" dirty="0">
                  <a:solidFill>
                    <a:srgbClr val="000000"/>
                  </a:solidFill>
                  <a:latin typeface="Arimo Bold"/>
                  <a:ea typeface="Arimo Bold"/>
                  <a:cs typeface="Arimo Bold"/>
                  <a:sym typeface="Arimo Bold"/>
                </a:rPr>
                <a:t>5</a:t>
              </a:r>
            </a:p>
          </p:txBody>
        </p:sp>
      </p:grpSp>
      <p:sp>
        <p:nvSpPr>
          <p:cNvPr id="13" name="TextBox 13"/>
          <p:cNvSpPr txBox="1"/>
          <p:nvPr/>
        </p:nvSpPr>
        <p:spPr>
          <a:xfrm>
            <a:off x="2761907" y="136613"/>
            <a:ext cx="13800000" cy="1700000"/>
          </a:xfrm>
          <a:prstGeom prst="rect">
            <a:avLst/>
          </a:prstGeom>
        </p:spPr>
        <p:txBody>
          <a:bodyPr wrap="square" lIns="228600" tIns="45720" rIns="228600" bIns="45720" rtlCol="0" anchor="t">
            <a:normAutofit/>
          </a:bodyPr>
          <a:lstStyle/>
          <a:p>
            <a:pPr algn="l">
              <a:lnSpc>
                <a:spcPts val="8000"/>
              </a:lnSpc>
            </a:pPr>
            <a:r>
              <a:rPr lang="en-US" sz="5000" b="1" dirty="0">
                <a:solidFill>
                  <a:srgbClr val="000000"/>
                </a:solidFill>
                <a:latin typeface="Canva Sans Bold"/>
                <a:ea typeface="Canva Sans Bold"/>
                <a:cs typeface="Canva Sans Bold"/>
                <a:sym typeface="Canva Sans Bold"/>
              </a:rPr>
              <a:t>Architecture and Working</a:t>
            </a:r>
            <a:endParaRPr lang="en-US" sz="5000" b="0" dirty="0">
              <a:solidFill>
                <a:srgbClr val="C00000"/>
              </a:solidFill>
              <a:latin typeface="Canva Sans Bold"/>
              <a:ea typeface="Canva Sans Bold"/>
              <a:cs typeface="Canva Sans Bold"/>
              <a:sym typeface="Canva Sans Bold"/>
            </a:endParaRPr>
          </a:p>
        </p:txBody>
      </p:sp>
      <p:sp>
        <p:nvSpPr>
          <p:cNvPr id="20" name="Rect 20"/>
          <p:cNvSpPr/>
          <p:nvPr/>
        </p:nvSpPr>
        <p:spPr>
          <a:xfrm>
            <a:off x="365763" y="1542481"/>
            <a:ext cx="8350000" cy="8935019"/>
          </a:xfrm>
          <a:prstGeom prst="rect">
            <a:avLst/>
          </a:prstGeom>
          <a:solidFill>
            <a:srgbClr val="EAF3F6"/>
          </a:solidFill>
          <a:ln>
            <a:noFill/>
          </a:ln>
        </p:spPr>
        <p:txBody>
          <a:bodyPr/>
          <a:lstStyle/>
          <a:p>
            <a:endParaRPr dirty="0"/>
          </a:p>
        </p:txBody>
      </p:sp>
      <p:sp>
        <p:nvSpPr>
          <p:cNvPr id="21" name="TextBox 21"/>
          <p:cNvSpPr txBox="1"/>
          <p:nvPr/>
        </p:nvSpPr>
        <p:spPr>
          <a:xfrm>
            <a:off x="437246" y="1509824"/>
            <a:ext cx="8300000" cy="4450449"/>
          </a:xfrm>
          <a:prstGeom prst="rect">
            <a:avLst/>
          </a:prstGeom>
        </p:spPr>
        <p:txBody>
          <a:bodyPr lIns="91440" tIns="45720" rIns="91440" bIns="45720" rtlCol="0" anchor="t">
            <a:spAutoFit/>
          </a:bodyPr>
          <a:lstStyle/>
          <a:p>
            <a:pPr algn="just">
              <a:lnSpc>
                <a:spcPct val="100000"/>
              </a:lnSpc>
            </a:pPr>
            <a:r>
              <a:rPr lang="en-US" sz="2400" b="1" dirty="0">
                <a:solidFill>
                  <a:srgbClr val="C00000"/>
                </a:solidFill>
                <a:latin typeface="Times New Roman" panose="02020603050405020304" pitchFamily="18" charset="0"/>
                <a:ea typeface="Abhaya Libre"/>
                <a:cs typeface="Times New Roman" panose="02020603050405020304" pitchFamily="18" charset="0"/>
                <a:sym typeface="Abhaya Libre"/>
              </a:rPr>
              <a:t>5.5  Model Evaluation and Verification</a:t>
            </a:r>
          </a:p>
          <a:p>
            <a:pPr algn="just">
              <a:lnSpc>
                <a:spcPct val="100000"/>
              </a:lnSpc>
            </a:pPr>
            <a:r>
              <a:rPr lang="en-US" sz="2400" dirty="0">
                <a:solidFill>
                  <a:srgbClr val="000000"/>
                </a:solidFill>
                <a:latin typeface="Times New Roman" panose="02020603050405020304" pitchFamily="18" charset="0"/>
                <a:ea typeface="Abhaya Libre"/>
                <a:cs typeface="Times New Roman" panose="02020603050405020304" pitchFamily="18" charset="0"/>
                <a:sym typeface="Abhaya Libre"/>
              </a:rPr>
              <a:t>The classifier achieved a macro-F1 score of 0.842, compared with 0.487 for the rule-based baseline on the held-out synthetic test set. The readiness estimator achieved a mean absolute error (MAE) of 4.5 points on the 0–100 scale. Verification included shuffled-label testing, input perturbation analysis, sensor-dropout evaluation, and comparison of batch and streaming inference. Both inference implementations produced identical outputs across 1,506 evaluated windows. These results demonstrate consistency within the simulated evaluation environment; real-world physiological validation remains necessary.</a:t>
            </a:r>
          </a:p>
          <a:p>
            <a:pPr>
              <a:lnSpc>
                <a:spcPct val="80000"/>
              </a:lnSpc>
            </a:pPr>
            <a:endParaRPr lang="en-US" sz="2400" dirty="0">
              <a:latin typeface="Times New Roman" panose="02020603050405020304" pitchFamily="18" charset="0"/>
              <a:cs typeface="Times New Roman" panose="02020603050405020304" pitchFamily="18" charset="0"/>
            </a:endParaRPr>
          </a:p>
        </p:txBody>
      </p:sp>
      <p:sp>
        <p:nvSpPr>
          <p:cNvPr id="22" name="Rect 22"/>
          <p:cNvSpPr/>
          <p:nvPr/>
        </p:nvSpPr>
        <p:spPr>
          <a:xfrm>
            <a:off x="9094000" y="1950000"/>
            <a:ext cx="8350000" cy="4500000"/>
          </a:xfrm>
          <a:prstGeom prst="rect">
            <a:avLst/>
          </a:prstGeom>
          <a:solidFill>
            <a:srgbClr val="F0EDE4"/>
          </a:solidFill>
          <a:ln>
            <a:noFill/>
          </a:ln>
        </p:spPr>
        <p:txBody>
          <a:bodyPr/>
          <a:lstStyle/>
          <a:p>
            <a:endParaRPr dirty="0"/>
          </a:p>
        </p:txBody>
      </p:sp>
      <p:sp>
        <p:nvSpPr>
          <p:cNvPr id="23" name="TextBox 23"/>
          <p:cNvSpPr txBox="1"/>
          <p:nvPr/>
        </p:nvSpPr>
        <p:spPr>
          <a:xfrm>
            <a:off x="9072517" y="1509824"/>
            <a:ext cx="8300000" cy="8091446"/>
          </a:xfrm>
          <a:prstGeom prst="rect">
            <a:avLst/>
          </a:prstGeom>
        </p:spPr>
        <p:txBody>
          <a:bodyPr lIns="91440" tIns="45720" rIns="91440" bIns="45720" rtlCol="0" anchor="t">
            <a:spAutoFit/>
          </a:bodyPr>
          <a:lstStyle/>
          <a:p>
            <a:pPr algn="just">
              <a:lnSpc>
                <a:spcPct val="100000"/>
              </a:lnSpc>
            </a:pPr>
            <a:r>
              <a:rPr lang="en-US" sz="2300" b="1" dirty="0">
                <a:solidFill>
                  <a:srgbClr val="C00000"/>
                </a:solidFill>
                <a:latin typeface="Times New Roman" panose="02020603050405020304" pitchFamily="18" charset="0"/>
                <a:ea typeface="Abhaya Libre"/>
                <a:cs typeface="Times New Roman" panose="02020603050405020304" pitchFamily="18" charset="0"/>
                <a:sym typeface="Abhaya Libre"/>
              </a:rPr>
              <a:t>5.6  Interactive Digital-Twin Dashboard</a:t>
            </a:r>
          </a:p>
          <a:p>
            <a:pPr algn="just">
              <a:lnSpc>
                <a:spcPct val="100000"/>
              </a:lnSpc>
            </a:pPr>
            <a:r>
              <a:rPr lang="en-US" sz="2300" dirty="0">
                <a:solidFill>
                  <a:srgbClr val="000000"/>
                </a:solidFill>
                <a:latin typeface="Times New Roman" panose="02020603050405020304" pitchFamily="18" charset="0"/>
                <a:ea typeface="Abhaya Libre"/>
                <a:cs typeface="Times New Roman" panose="02020603050405020304" pitchFamily="18" charset="0"/>
                <a:sym typeface="Abhaya Libre"/>
              </a:rPr>
              <a:t>An interactive dashboard was developed to demonstrate the software pipeline and visualise its outputs. The interface incorporates biometric simulation controls, physiological-state indicators, readiness scores, strain indices, temporal plots, mission-profile presets, and simulated multi-individual telemetry replay. Input modification and sensor-disconnection simulation enable the model’s behaviour to be examined under different operating conditions.</a:t>
            </a:r>
          </a:p>
          <a:p>
            <a:pPr>
              <a:lnSpc>
                <a:spcPct val="80000"/>
              </a:lnSpc>
            </a:pPr>
            <a:endParaRPr lang="en-US" sz="2300" dirty="0">
              <a:latin typeface="Times New Roman" panose="02020603050405020304" pitchFamily="18" charset="0"/>
              <a:cs typeface="Times New Roman" panose="02020603050405020304" pitchFamily="18" charset="0"/>
            </a:endParaRPr>
          </a:p>
          <a:p>
            <a:pPr algn="just">
              <a:lnSpc>
                <a:spcPct val="100000"/>
              </a:lnSpc>
            </a:pPr>
            <a:r>
              <a:rPr lang="en-US" sz="2300" b="1" dirty="0">
                <a:solidFill>
                  <a:srgbClr val="C00000"/>
                </a:solidFill>
                <a:latin typeface="Times New Roman" panose="02020603050405020304" pitchFamily="18" charset="0"/>
                <a:ea typeface="Abhaya Libre"/>
                <a:cs typeface="Times New Roman" panose="02020603050405020304" pitchFamily="18" charset="0"/>
                <a:sym typeface="Abhaya Libre"/>
              </a:rPr>
              <a:t>5.7  Embedded Sensing, Signal Processing and Integration</a:t>
            </a:r>
          </a:p>
          <a:p>
            <a:pPr algn="just">
              <a:lnSpc>
                <a:spcPct val="100000"/>
              </a:lnSpc>
            </a:pPr>
            <a:r>
              <a:rPr lang="en-US" sz="2300" dirty="0">
                <a:solidFill>
                  <a:srgbClr val="000000"/>
                </a:solidFill>
                <a:latin typeface="Times New Roman" panose="02020603050405020304" pitchFamily="18" charset="0"/>
                <a:ea typeface="Abhaya Libre"/>
                <a:cs typeface="Times New Roman" panose="02020603050405020304" pitchFamily="18" charset="0"/>
                <a:sym typeface="Abhaya Libre"/>
              </a:rPr>
              <a:t>Supporting development work involved interfacing the ESP32 with the MAX30102 photoplethysmography (PPG) sensor and MPU6050 inertial measurement unit (IMU) for acquiring optical and motion-related measurements. Stationary and motion-affected PPG recordings were collected and analysed to investigate signal quality, sampling consistency, and motion-induced artefacts. A preprocessing pipeline was explored for filtering PPG signals and recalculating heart-rate estimates. Additionally, a two-channel convolutional denoising autoencoder was trained to process infrared and red PPG signals and generate denoised outputs. The effectiveness of the denoising approach remains subject to further quantitative evaluation against independent reference measurements.</a:t>
            </a:r>
          </a:p>
          <a:p>
            <a:pPr>
              <a:lnSpc>
                <a:spcPct val="80000"/>
              </a:lnSpc>
            </a:pP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7018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16477994" y="0"/>
            <a:ext cx="1562612" cy="1673225"/>
            <a:chOff x="0" y="0"/>
            <a:chExt cx="2083482" cy="2230967"/>
          </a:xfrm>
        </p:grpSpPr>
        <p:grpSp>
          <p:nvGrpSpPr>
            <p:cNvPr id="3" name="Group 3"/>
            <p:cNvGrpSpPr/>
            <p:nvPr/>
          </p:nvGrpSpPr>
          <p:grpSpPr>
            <a:xfrm>
              <a:off x="75599" y="0"/>
              <a:ext cx="1932284" cy="2230967"/>
              <a:chOff x="0" y="0"/>
              <a:chExt cx="703982" cy="812800"/>
            </a:xfrm>
          </p:grpSpPr>
          <p:sp>
            <p:nvSpPr>
              <p:cNvPr id="4" name="Freeform 4"/>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txBody>
              <a:bodyPr/>
              <a:lstStyle/>
              <a:p>
                <a:endParaRPr lang="en-IN" dirty="0"/>
              </a:p>
            </p:txBody>
          </p:sp>
          <p:sp>
            <p:nvSpPr>
              <p:cNvPr id="5" name="TextBox 5"/>
              <p:cNvSpPr txBox="1"/>
              <p:nvPr/>
            </p:nvSpPr>
            <p:spPr>
              <a:xfrm>
                <a:off x="0" y="-47625"/>
                <a:ext cx="703982" cy="733425"/>
              </a:xfrm>
              <a:prstGeom prst="rect">
                <a:avLst/>
              </a:prstGeom>
            </p:spPr>
            <p:txBody>
              <a:bodyPr lIns="50800" tIns="50800" rIns="50800" bIns="50800" rtlCol="0" anchor="ctr"/>
              <a:lstStyle/>
              <a:p>
                <a:pPr algn="ctr">
                  <a:lnSpc>
                    <a:spcPts val="2659"/>
                  </a:lnSpc>
                </a:pPr>
                <a:endParaRPr dirty="0"/>
              </a:p>
            </p:txBody>
          </p:sp>
        </p:grpSp>
        <p:sp>
          <p:nvSpPr>
            <p:cNvPr id="6" name="TextBox 6"/>
            <p:cNvSpPr txBox="1"/>
            <p:nvPr/>
          </p:nvSpPr>
          <p:spPr>
            <a:xfrm>
              <a:off x="0" y="409007"/>
              <a:ext cx="2083482" cy="1270099"/>
            </a:xfrm>
            <a:prstGeom prst="rect">
              <a:avLst/>
            </a:prstGeom>
          </p:spPr>
          <p:txBody>
            <a:bodyPr lIns="0" tIns="0" rIns="0" bIns="0" rtlCol="0" anchor="t">
              <a:spAutoFit/>
            </a:bodyPr>
            <a:lstStyle/>
            <a:p>
              <a:pPr algn="ctr">
                <a:lnSpc>
                  <a:spcPts val="7805"/>
                </a:lnSpc>
              </a:pPr>
              <a:r>
                <a:rPr lang="en-US" sz="5575" b="1" dirty="0">
                  <a:solidFill>
                    <a:srgbClr val="000000"/>
                  </a:solidFill>
                  <a:latin typeface="Arimo Bold"/>
                  <a:ea typeface="Arimo Bold"/>
                  <a:cs typeface="Arimo Bold"/>
                  <a:sym typeface="Arimo Bold"/>
                </a:rPr>
                <a:t>5</a:t>
              </a:r>
            </a:p>
          </p:txBody>
        </p:sp>
      </p:grpSp>
      <p:sp>
        <p:nvSpPr>
          <p:cNvPr id="7" name="Freeform 7"/>
          <p:cNvSpPr/>
          <p:nvPr/>
        </p:nvSpPr>
        <p:spPr>
          <a:xfrm>
            <a:off x="16074194" y="0"/>
            <a:ext cx="2213806" cy="1673225"/>
          </a:xfrm>
          <a:custGeom>
            <a:avLst/>
            <a:gdLst/>
            <a:ahLst/>
            <a:cxnLst/>
            <a:rect l="l" t="t" r="r" b="b"/>
            <a:pathLst>
              <a:path w="2213806" h="1673225">
                <a:moveTo>
                  <a:pt x="0" y="0"/>
                </a:moveTo>
                <a:lnTo>
                  <a:pt x="2213806" y="0"/>
                </a:lnTo>
                <a:lnTo>
                  <a:pt x="2213806" y="1673225"/>
                </a:lnTo>
                <a:lnTo>
                  <a:pt x="0" y="1673225"/>
                </a:lnTo>
                <a:lnTo>
                  <a:pt x="0" y="0"/>
                </a:lnTo>
                <a:close/>
              </a:path>
            </a:pathLst>
          </a:custGeom>
          <a:blipFill>
            <a:blip r:embed="rId2"/>
            <a:stretch>
              <a:fillRect/>
            </a:stretch>
          </a:blipFill>
        </p:spPr>
        <p:txBody>
          <a:bodyPr/>
          <a:lstStyle/>
          <a:p>
            <a:endParaRPr lang="en-IN" dirty="0"/>
          </a:p>
        </p:txBody>
      </p:sp>
      <p:grpSp>
        <p:nvGrpSpPr>
          <p:cNvPr id="8" name="Group 8"/>
          <p:cNvGrpSpPr/>
          <p:nvPr/>
        </p:nvGrpSpPr>
        <p:grpSpPr>
          <a:xfrm>
            <a:off x="14318522" y="-98041"/>
            <a:ext cx="1562612" cy="1509824"/>
            <a:chOff x="0" y="-130721"/>
            <a:chExt cx="2083482" cy="2013099"/>
          </a:xfrm>
        </p:grpSpPr>
        <p:sp>
          <p:nvSpPr>
            <p:cNvPr id="11" name="TextBox 11"/>
            <p:cNvSpPr txBox="1"/>
            <p:nvPr/>
          </p:nvSpPr>
          <p:spPr>
            <a:xfrm>
              <a:off x="37499" y="-130721"/>
              <a:ext cx="1932283" cy="2013099"/>
            </a:xfrm>
            <a:prstGeom prst="rect">
              <a:avLst/>
            </a:prstGeom>
          </p:spPr>
          <p:txBody>
            <a:bodyPr lIns="50800" tIns="50800" rIns="50800" bIns="50800" rtlCol="0" anchor="ctr"/>
            <a:lstStyle/>
            <a:p>
              <a:pPr algn="ctr">
                <a:lnSpc>
                  <a:spcPts val="2659"/>
                </a:lnSpc>
              </a:pPr>
              <a:endParaRPr dirty="0"/>
            </a:p>
          </p:txBody>
        </p:sp>
        <p:sp>
          <p:nvSpPr>
            <p:cNvPr id="12" name="TextBox 12"/>
            <p:cNvSpPr txBox="1"/>
            <p:nvPr/>
          </p:nvSpPr>
          <p:spPr>
            <a:xfrm>
              <a:off x="0" y="409007"/>
              <a:ext cx="2083482" cy="1217256"/>
            </a:xfrm>
            <a:prstGeom prst="rect">
              <a:avLst/>
            </a:prstGeom>
          </p:spPr>
          <p:txBody>
            <a:bodyPr lIns="0" tIns="0" rIns="0" bIns="0" rtlCol="0" anchor="t">
              <a:spAutoFit/>
            </a:bodyPr>
            <a:lstStyle/>
            <a:p>
              <a:pPr algn="ctr">
                <a:lnSpc>
                  <a:spcPts val="7805"/>
                </a:lnSpc>
              </a:pPr>
              <a:endParaRPr lang="en-US" sz="5575" b="1" dirty="0">
                <a:solidFill>
                  <a:srgbClr val="000000"/>
                </a:solidFill>
                <a:latin typeface="Arimo Bold"/>
                <a:ea typeface="Arimo Bold"/>
                <a:cs typeface="Arimo Bold"/>
                <a:sym typeface="Arimo Bold"/>
              </a:endParaRPr>
            </a:p>
          </p:txBody>
        </p:sp>
      </p:grpSp>
      <p:pic>
        <p:nvPicPr>
          <p:cNvPr id="16" name="Picture 15">
            <a:extLst>
              <a:ext uri="{FF2B5EF4-FFF2-40B4-BE49-F238E27FC236}">
                <a16:creationId xmlns:a16="http://schemas.microsoft.com/office/drawing/2014/main" id="{4FD9235C-4976-B446-15C8-02A9A952F1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7" y="0"/>
            <a:ext cx="18306224" cy="1039335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16477994" y="0"/>
            <a:ext cx="1562612" cy="1673225"/>
            <a:chOff x="0" y="0"/>
            <a:chExt cx="2083482" cy="2230967"/>
          </a:xfrm>
        </p:grpSpPr>
        <p:grpSp>
          <p:nvGrpSpPr>
            <p:cNvPr id="3" name="Group 3"/>
            <p:cNvGrpSpPr/>
            <p:nvPr/>
          </p:nvGrpSpPr>
          <p:grpSpPr>
            <a:xfrm>
              <a:off x="75599" y="0"/>
              <a:ext cx="1932284" cy="2230967"/>
              <a:chOff x="0" y="0"/>
              <a:chExt cx="703982" cy="812800"/>
            </a:xfrm>
          </p:grpSpPr>
          <p:sp>
            <p:nvSpPr>
              <p:cNvPr id="4" name="Freeform 4"/>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txBody>
              <a:bodyPr/>
              <a:lstStyle/>
              <a:p>
                <a:endParaRPr lang="en-IN" dirty="0"/>
              </a:p>
            </p:txBody>
          </p:sp>
          <p:sp>
            <p:nvSpPr>
              <p:cNvPr id="5" name="TextBox 5"/>
              <p:cNvSpPr txBox="1"/>
              <p:nvPr/>
            </p:nvSpPr>
            <p:spPr>
              <a:xfrm>
                <a:off x="0" y="-47625"/>
                <a:ext cx="703982" cy="733425"/>
              </a:xfrm>
              <a:prstGeom prst="rect">
                <a:avLst/>
              </a:prstGeom>
            </p:spPr>
            <p:txBody>
              <a:bodyPr lIns="50800" tIns="50800" rIns="50800" bIns="50800" rtlCol="0" anchor="ctr"/>
              <a:lstStyle/>
              <a:p>
                <a:pPr algn="ctr">
                  <a:lnSpc>
                    <a:spcPts val="2659"/>
                  </a:lnSpc>
                </a:pPr>
                <a:endParaRPr dirty="0"/>
              </a:p>
            </p:txBody>
          </p:sp>
        </p:grpSp>
        <p:sp>
          <p:nvSpPr>
            <p:cNvPr id="6" name="TextBox 6"/>
            <p:cNvSpPr txBox="1"/>
            <p:nvPr/>
          </p:nvSpPr>
          <p:spPr>
            <a:xfrm>
              <a:off x="0" y="409007"/>
              <a:ext cx="2083482" cy="1270099"/>
            </a:xfrm>
            <a:prstGeom prst="rect">
              <a:avLst/>
            </a:prstGeom>
          </p:spPr>
          <p:txBody>
            <a:bodyPr lIns="0" tIns="0" rIns="0" bIns="0" rtlCol="0" anchor="t">
              <a:spAutoFit/>
            </a:bodyPr>
            <a:lstStyle/>
            <a:p>
              <a:pPr algn="ctr">
                <a:lnSpc>
                  <a:spcPts val="7805"/>
                </a:lnSpc>
              </a:pPr>
              <a:r>
                <a:rPr lang="en-US" sz="5575" b="1" dirty="0">
                  <a:solidFill>
                    <a:srgbClr val="000000"/>
                  </a:solidFill>
                  <a:latin typeface="Arimo Bold"/>
                  <a:ea typeface="Arimo Bold"/>
                  <a:cs typeface="Arimo Bold"/>
                  <a:sym typeface="Arimo Bold"/>
                </a:rPr>
                <a:t>5</a:t>
              </a:r>
            </a:p>
          </p:txBody>
        </p:sp>
      </p:grpSp>
      <p:sp>
        <p:nvSpPr>
          <p:cNvPr id="7" name="Freeform 7"/>
          <p:cNvSpPr/>
          <p:nvPr/>
        </p:nvSpPr>
        <p:spPr>
          <a:xfrm>
            <a:off x="16074194" y="0"/>
            <a:ext cx="2213806" cy="1673225"/>
          </a:xfrm>
          <a:custGeom>
            <a:avLst/>
            <a:gdLst/>
            <a:ahLst/>
            <a:cxnLst/>
            <a:rect l="l" t="t" r="r" b="b"/>
            <a:pathLst>
              <a:path w="2213806" h="1673225">
                <a:moveTo>
                  <a:pt x="0" y="0"/>
                </a:moveTo>
                <a:lnTo>
                  <a:pt x="2213806" y="0"/>
                </a:lnTo>
                <a:lnTo>
                  <a:pt x="2213806" y="1673225"/>
                </a:lnTo>
                <a:lnTo>
                  <a:pt x="0" y="1673225"/>
                </a:lnTo>
                <a:lnTo>
                  <a:pt x="0" y="0"/>
                </a:lnTo>
                <a:close/>
              </a:path>
            </a:pathLst>
          </a:custGeom>
          <a:blipFill>
            <a:blip r:embed="rId2"/>
            <a:stretch>
              <a:fillRect/>
            </a:stretch>
          </a:blipFill>
        </p:spPr>
        <p:txBody>
          <a:bodyPr/>
          <a:lstStyle/>
          <a:p>
            <a:endParaRPr lang="en-IN" dirty="0"/>
          </a:p>
        </p:txBody>
      </p:sp>
      <p:grpSp>
        <p:nvGrpSpPr>
          <p:cNvPr id="8" name="Group 8"/>
          <p:cNvGrpSpPr/>
          <p:nvPr/>
        </p:nvGrpSpPr>
        <p:grpSpPr>
          <a:xfrm>
            <a:off x="14318522" y="0"/>
            <a:ext cx="1562612" cy="1673225"/>
            <a:chOff x="0" y="0"/>
            <a:chExt cx="2083482" cy="2230967"/>
          </a:xfrm>
        </p:grpSpPr>
        <p:grpSp>
          <p:nvGrpSpPr>
            <p:cNvPr id="9" name="Group 9"/>
            <p:cNvGrpSpPr/>
            <p:nvPr/>
          </p:nvGrpSpPr>
          <p:grpSpPr>
            <a:xfrm>
              <a:off x="37499" y="0"/>
              <a:ext cx="1932284" cy="2230967"/>
              <a:chOff x="0" y="0"/>
              <a:chExt cx="703982" cy="812800"/>
            </a:xfrm>
          </p:grpSpPr>
          <p:sp>
            <p:nvSpPr>
              <p:cNvPr id="10" name="Freeform 10"/>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txBody>
              <a:bodyPr/>
              <a:lstStyle/>
              <a:p>
                <a:endParaRPr lang="en-IN" dirty="0"/>
              </a:p>
            </p:txBody>
          </p:sp>
          <p:sp>
            <p:nvSpPr>
              <p:cNvPr id="11" name="TextBox 11"/>
              <p:cNvSpPr txBox="1"/>
              <p:nvPr/>
            </p:nvSpPr>
            <p:spPr>
              <a:xfrm>
                <a:off x="0" y="-47625"/>
                <a:ext cx="703982" cy="733425"/>
              </a:xfrm>
              <a:prstGeom prst="rect">
                <a:avLst/>
              </a:prstGeom>
            </p:spPr>
            <p:txBody>
              <a:bodyPr lIns="50800" tIns="50800" rIns="50800" bIns="50800" rtlCol="0" anchor="ctr"/>
              <a:lstStyle/>
              <a:p>
                <a:pPr algn="ctr">
                  <a:lnSpc>
                    <a:spcPts val="2659"/>
                  </a:lnSpc>
                </a:pPr>
                <a:endParaRPr dirty="0"/>
              </a:p>
            </p:txBody>
          </p:sp>
        </p:grpSp>
        <p:sp>
          <p:nvSpPr>
            <p:cNvPr id="12" name="TextBox 12"/>
            <p:cNvSpPr txBox="1"/>
            <p:nvPr/>
          </p:nvSpPr>
          <p:spPr>
            <a:xfrm>
              <a:off x="0" y="409007"/>
              <a:ext cx="2083482" cy="1217256"/>
            </a:xfrm>
            <a:prstGeom prst="rect">
              <a:avLst/>
            </a:prstGeom>
          </p:spPr>
          <p:txBody>
            <a:bodyPr lIns="0" tIns="0" rIns="0" bIns="0" rtlCol="0" anchor="t">
              <a:spAutoFit/>
            </a:bodyPr>
            <a:lstStyle/>
            <a:p>
              <a:pPr algn="ctr">
                <a:lnSpc>
                  <a:spcPts val="7805"/>
                </a:lnSpc>
              </a:pPr>
              <a:r>
                <a:rPr lang="en-US" sz="5575" b="1" dirty="0">
                  <a:solidFill>
                    <a:srgbClr val="000000"/>
                  </a:solidFill>
                  <a:latin typeface="Arimo Bold"/>
                  <a:ea typeface="Arimo Bold"/>
                  <a:cs typeface="Arimo Bold"/>
                  <a:sym typeface="Arimo Bold"/>
                </a:rPr>
                <a:t>2</a:t>
              </a:r>
            </a:p>
          </p:txBody>
        </p:sp>
      </p:grpSp>
      <p:sp>
        <p:nvSpPr>
          <p:cNvPr id="13" name="Freeform 13"/>
          <p:cNvSpPr/>
          <p:nvPr/>
        </p:nvSpPr>
        <p:spPr>
          <a:xfrm>
            <a:off x="381000" y="1723981"/>
            <a:ext cx="17297400" cy="7915319"/>
          </a:xfrm>
          <a:custGeom>
            <a:avLst/>
            <a:gdLst/>
            <a:ahLst/>
            <a:cxnLst/>
            <a:rect l="l" t="t" r="r" b="b"/>
            <a:pathLst>
              <a:path w="17259300" h="7576916">
                <a:moveTo>
                  <a:pt x="0" y="0"/>
                </a:moveTo>
                <a:lnTo>
                  <a:pt x="17259300" y="0"/>
                </a:lnTo>
                <a:lnTo>
                  <a:pt x="17259300" y="7576916"/>
                </a:lnTo>
                <a:lnTo>
                  <a:pt x="0" y="7576916"/>
                </a:lnTo>
                <a:lnTo>
                  <a:pt x="0" y="0"/>
                </a:lnTo>
                <a:close/>
              </a:path>
            </a:pathLst>
          </a:custGeom>
          <a:blipFill>
            <a:blip r:embed="rId3"/>
            <a:stretch>
              <a:fillRect/>
            </a:stretch>
          </a:blipFill>
        </p:spPr>
        <p:txBody>
          <a:bodyPr/>
          <a:lstStyle/>
          <a:p>
            <a:endParaRPr lang="en-IN" dirty="0"/>
          </a:p>
        </p:txBody>
      </p:sp>
      <p:sp>
        <p:nvSpPr>
          <p:cNvPr id="14" name="TextBox 14"/>
          <p:cNvSpPr txBox="1"/>
          <p:nvPr/>
        </p:nvSpPr>
        <p:spPr>
          <a:xfrm>
            <a:off x="1448246" y="195870"/>
            <a:ext cx="11259917" cy="1122936"/>
          </a:xfrm>
          <a:prstGeom prst="rect">
            <a:avLst/>
          </a:prstGeom>
        </p:spPr>
        <p:txBody>
          <a:bodyPr wrap="square" lIns="0" tIns="0" rIns="0" bIns="0" rtlCol="0" anchor="t">
            <a:spAutoFit/>
          </a:bodyPr>
          <a:lstStyle/>
          <a:p>
            <a:pPr algn="ctr">
              <a:lnSpc>
                <a:spcPts val="9800"/>
              </a:lnSpc>
            </a:pPr>
            <a:r>
              <a:rPr lang="en-US" sz="6000" b="1" dirty="0">
                <a:solidFill>
                  <a:srgbClr val="000000"/>
                </a:solidFill>
                <a:latin typeface="Times New Roman" panose="02020603050405020304" pitchFamily="18" charset="0"/>
                <a:ea typeface="Canva Sans Bold"/>
                <a:cs typeface="Times New Roman" panose="02020603050405020304" pitchFamily="18" charset="0"/>
                <a:sym typeface="Canva Sans Bold"/>
              </a:rPr>
              <a:t>Literature Review Part 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16477994" y="0"/>
            <a:ext cx="1562612" cy="1673225"/>
            <a:chOff x="0" y="0"/>
            <a:chExt cx="2083482" cy="2230967"/>
          </a:xfrm>
        </p:grpSpPr>
        <p:grpSp>
          <p:nvGrpSpPr>
            <p:cNvPr id="3" name="Group 3"/>
            <p:cNvGrpSpPr/>
            <p:nvPr/>
          </p:nvGrpSpPr>
          <p:grpSpPr>
            <a:xfrm>
              <a:off x="75599" y="0"/>
              <a:ext cx="1932284" cy="2230967"/>
              <a:chOff x="0" y="0"/>
              <a:chExt cx="703982" cy="812800"/>
            </a:xfrm>
          </p:grpSpPr>
          <p:sp>
            <p:nvSpPr>
              <p:cNvPr id="4" name="Freeform 4"/>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txBody>
              <a:bodyPr/>
              <a:lstStyle/>
              <a:p>
                <a:endParaRPr lang="en-IN" dirty="0"/>
              </a:p>
            </p:txBody>
          </p:sp>
          <p:sp>
            <p:nvSpPr>
              <p:cNvPr id="5" name="TextBox 5"/>
              <p:cNvSpPr txBox="1"/>
              <p:nvPr/>
            </p:nvSpPr>
            <p:spPr>
              <a:xfrm>
                <a:off x="0" y="-47625"/>
                <a:ext cx="703982" cy="733425"/>
              </a:xfrm>
              <a:prstGeom prst="rect">
                <a:avLst/>
              </a:prstGeom>
            </p:spPr>
            <p:txBody>
              <a:bodyPr lIns="50800" tIns="50800" rIns="50800" bIns="50800" rtlCol="0" anchor="ctr"/>
              <a:lstStyle/>
              <a:p>
                <a:pPr algn="ctr">
                  <a:lnSpc>
                    <a:spcPts val="2659"/>
                  </a:lnSpc>
                </a:pPr>
                <a:endParaRPr dirty="0"/>
              </a:p>
            </p:txBody>
          </p:sp>
        </p:grpSp>
        <p:sp>
          <p:nvSpPr>
            <p:cNvPr id="6" name="TextBox 6"/>
            <p:cNvSpPr txBox="1"/>
            <p:nvPr/>
          </p:nvSpPr>
          <p:spPr>
            <a:xfrm>
              <a:off x="0" y="409007"/>
              <a:ext cx="2083482" cy="1270099"/>
            </a:xfrm>
            <a:prstGeom prst="rect">
              <a:avLst/>
            </a:prstGeom>
          </p:spPr>
          <p:txBody>
            <a:bodyPr lIns="0" tIns="0" rIns="0" bIns="0" rtlCol="0" anchor="t">
              <a:spAutoFit/>
            </a:bodyPr>
            <a:lstStyle/>
            <a:p>
              <a:pPr algn="ctr">
                <a:lnSpc>
                  <a:spcPts val="7805"/>
                </a:lnSpc>
              </a:pPr>
              <a:r>
                <a:rPr lang="en-US" sz="5575" b="1" dirty="0">
                  <a:solidFill>
                    <a:srgbClr val="000000"/>
                  </a:solidFill>
                  <a:latin typeface="Arimo Bold"/>
                  <a:ea typeface="Arimo Bold"/>
                  <a:cs typeface="Arimo Bold"/>
                  <a:sym typeface="Arimo Bold"/>
                </a:rPr>
                <a:t>5</a:t>
              </a:r>
            </a:p>
          </p:txBody>
        </p:sp>
      </p:grpSp>
      <p:sp>
        <p:nvSpPr>
          <p:cNvPr id="7" name="Freeform 7"/>
          <p:cNvSpPr/>
          <p:nvPr/>
        </p:nvSpPr>
        <p:spPr>
          <a:xfrm>
            <a:off x="16074194" y="0"/>
            <a:ext cx="2213806" cy="1673225"/>
          </a:xfrm>
          <a:custGeom>
            <a:avLst/>
            <a:gdLst/>
            <a:ahLst/>
            <a:cxnLst/>
            <a:rect l="l" t="t" r="r" b="b"/>
            <a:pathLst>
              <a:path w="2213806" h="1673225">
                <a:moveTo>
                  <a:pt x="0" y="0"/>
                </a:moveTo>
                <a:lnTo>
                  <a:pt x="2213806" y="0"/>
                </a:lnTo>
                <a:lnTo>
                  <a:pt x="2213806" y="1673225"/>
                </a:lnTo>
                <a:lnTo>
                  <a:pt x="0" y="1673225"/>
                </a:lnTo>
                <a:lnTo>
                  <a:pt x="0" y="0"/>
                </a:lnTo>
                <a:close/>
              </a:path>
            </a:pathLst>
          </a:custGeom>
          <a:blipFill>
            <a:blip r:embed="rId2"/>
            <a:stretch>
              <a:fillRect/>
            </a:stretch>
          </a:blipFill>
        </p:spPr>
        <p:txBody>
          <a:bodyPr/>
          <a:lstStyle/>
          <a:p>
            <a:endParaRPr lang="en-IN" dirty="0"/>
          </a:p>
        </p:txBody>
      </p:sp>
      <p:grpSp>
        <p:nvGrpSpPr>
          <p:cNvPr id="8" name="Group 8"/>
          <p:cNvGrpSpPr/>
          <p:nvPr/>
        </p:nvGrpSpPr>
        <p:grpSpPr>
          <a:xfrm>
            <a:off x="14318522" y="0"/>
            <a:ext cx="1562612" cy="1673225"/>
            <a:chOff x="0" y="0"/>
            <a:chExt cx="2083482" cy="2230967"/>
          </a:xfrm>
        </p:grpSpPr>
        <p:grpSp>
          <p:nvGrpSpPr>
            <p:cNvPr id="9" name="Group 9"/>
            <p:cNvGrpSpPr/>
            <p:nvPr/>
          </p:nvGrpSpPr>
          <p:grpSpPr>
            <a:xfrm>
              <a:off x="37499" y="0"/>
              <a:ext cx="1932284" cy="2230967"/>
              <a:chOff x="0" y="0"/>
              <a:chExt cx="703982" cy="812800"/>
            </a:xfrm>
          </p:grpSpPr>
          <p:sp>
            <p:nvSpPr>
              <p:cNvPr id="10" name="Freeform 10"/>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txBody>
              <a:bodyPr/>
              <a:lstStyle/>
              <a:p>
                <a:endParaRPr lang="en-IN" dirty="0"/>
              </a:p>
            </p:txBody>
          </p:sp>
          <p:sp>
            <p:nvSpPr>
              <p:cNvPr id="11" name="TextBox 11"/>
              <p:cNvSpPr txBox="1"/>
              <p:nvPr/>
            </p:nvSpPr>
            <p:spPr>
              <a:xfrm>
                <a:off x="0" y="-47625"/>
                <a:ext cx="703982" cy="733425"/>
              </a:xfrm>
              <a:prstGeom prst="rect">
                <a:avLst/>
              </a:prstGeom>
            </p:spPr>
            <p:txBody>
              <a:bodyPr lIns="50800" tIns="50800" rIns="50800" bIns="50800" rtlCol="0" anchor="ctr"/>
              <a:lstStyle/>
              <a:p>
                <a:pPr algn="ctr">
                  <a:lnSpc>
                    <a:spcPts val="2659"/>
                  </a:lnSpc>
                </a:pPr>
                <a:endParaRPr dirty="0"/>
              </a:p>
            </p:txBody>
          </p:sp>
        </p:grpSp>
        <p:sp>
          <p:nvSpPr>
            <p:cNvPr id="12" name="TextBox 12"/>
            <p:cNvSpPr txBox="1"/>
            <p:nvPr/>
          </p:nvSpPr>
          <p:spPr>
            <a:xfrm>
              <a:off x="0" y="409007"/>
              <a:ext cx="2083482" cy="1217256"/>
            </a:xfrm>
            <a:prstGeom prst="rect">
              <a:avLst/>
            </a:prstGeom>
          </p:spPr>
          <p:txBody>
            <a:bodyPr lIns="0" tIns="0" rIns="0" bIns="0" rtlCol="0" anchor="t">
              <a:spAutoFit/>
            </a:bodyPr>
            <a:lstStyle/>
            <a:p>
              <a:pPr algn="ctr">
                <a:lnSpc>
                  <a:spcPts val="7805"/>
                </a:lnSpc>
              </a:pPr>
              <a:r>
                <a:rPr lang="en-US" sz="5575" b="1" dirty="0">
                  <a:solidFill>
                    <a:srgbClr val="000000"/>
                  </a:solidFill>
                  <a:latin typeface="Arimo Bold"/>
                  <a:ea typeface="Arimo Bold"/>
                  <a:cs typeface="Arimo Bold"/>
                  <a:sym typeface="Arimo Bold"/>
                </a:rPr>
                <a:t>3</a:t>
              </a:r>
            </a:p>
          </p:txBody>
        </p:sp>
      </p:grpSp>
      <p:sp>
        <p:nvSpPr>
          <p:cNvPr id="13" name="Freeform 13"/>
          <p:cNvSpPr/>
          <p:nvPr/>
        </p:nvSpPr>
        <p:spPr>
          <a:xfrm>
            <a:off x="457200" y="1771266"/>
            <a:ext cx="17526706" cy="8630034"/>
          </a:xfrm>
          <a:custGeom>
            <a:avLst/>
            <a:gdLst/>
            <a:ahLst/>
            <a:cxnLst/>
            <a:rect l="l" t="t" r="r" b="b"/>
            <a:pathLst>
              <a:path w="17859555" h="6899957">
                <a:moveTo>
                  <a:pt x="0" y="0"/>
                </a:moveTo>
                <a:lnTo>
                  <a:pt x="17859556" y="0"/>
                </a:lnTo>
                <a:lnTo>
                  <a:pt x="17859556" y="6899957"/>
                </a:lnTo>
                <a:lnTo>
                  <a:pt x="0" y="6899957"/>
                </a:lnTo>
                <a:lnTo>
                  <a:pt x="0" y="0"/>
                </a:lnTo>
                <a:close/>
              </a:path>
            </a:pathLst>
          </a:custGeom>
          <a:blipFill>
            <a:blip r:embed="rId3"/>
            <a:stretch>
              <a:fillRect/>
            </a:stretch>
          </a:blipFill>
        </p:spPr>
        <p:txBody>
          <a:bodyPr/>
          <a:lstStyle/>
          <a:p>
            <a:endParaRPr lang="en-IN" dirty="0"/>
          </a:p>
        </p:txBody>
      </p:sp>
      <p:sp>
        <p:nvSpPr>
          <p:cNvPr id="14" name="TextBox 14"/>
          <p:cNvSpPr txBox="1"/>
          <p:nvPr/>
        </p:nvSpPr>
        <p:spPr>
          <a:xfrm>
            <a:off x="1371600" y="206387"/>
            <a:ext cx="10838671" cy="1141210"/>
          </a:xfrm>
          <a:prstGeom prst="rect">
            <a:avLst/>
          </a:prstGeom>
        </p:spPr>
        <p:txBody>
          <a:bodyPr wrap="square" lIns="0" tIns="0" rIns="0" bIns="0" rtlCol="0" anchor="t">
            <a:spAutoFit/>
          </a:bodyPr>
          <a:lstStyle/>
          <a:p>
            <a:pPr algn="ctr">
              <a:lnSpc>
                <a:spcPts val="9800"/>
              </a:lnSpc>
            </a:pPr>
            <a:r>
              <a:rPr lang="en-US" sz="6000" b="1" dirty="0">
                <a:solidFill>
                  <a:srgbClr val="000000"/>
                </a:solidFill>
                <a:latin typeface="Times New Roman" panose="02020603050405020304" pitchFamily="18" charset="0"/>
                <a:ea typeface="Canva Sans Bold"/>
                <a:cs typeface="Times New Roman" panose="02020603050405020304" pitchFamily="18" charset="0"/>
                <a:sym typeface="Canva Sans Bold"/>
              </a:rPr>
              <a:t>Literature Review Part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grpSp>
        <p:nvGrpSpPr>
          <p:cNvPr id="2" name="Group 2"/>
          <p:cNvGrpSpPr/>
          <p:nvPr/>
        </p:nvGrpSpPr>
        <p:grpSpPr>
          <a:xfrm>
            <a:off x="16477994" y="0"/>
            <a:ext cx="1562612" cy="1673225"/>
            <a:chOff x="0" y="0"/>
            <a:chExt cx="2083482" cy="2230967"/>
          </a:xfrm>
        </p:grpSpPr>
        <p:grpSp>
          <p:nvGrpSpPr>
            <p:cNvPr id="3" name="Group 3"/>
            <p:cNvGrpSpPr/>
            <p:nvPr/>
          </p:nvGrpSpPr>
          <p:grpSpPr>
            <a:xfrm>
              <a:off x="75599" y="0"/>
              <a:ext cx="1932284" cy="2230967"/>
              <a:chOff x="0" y="0"/>
              <a:chExt cx="703982" cy="812800"/>
            </a:xfrm>
          </p:grpSpPr>
          <p:sp>
            <p:nvSpPr>
              <p:cNvPr id="4" name="Freeform 4"/>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txBody>
              <a:bodyPr/>
              <a:lstStyle/>
              <a:p>
                <a:endParaRPr lang="en-IN" dirty="0"/>
              </a:p>
            </p:txBody>
          </p:sp>
          <p:sp>
            <p:nvSpPr>
              <p:cNvPr id="5" name="TextBox 5"/>
              <p:cNvSpPr txBox="1"/>
              <p:nvPr/>
            </p:nvSpPr>
            <p:spPr>
              <a:xfrm>
                <a:off x="0" y="-47625"/>
                <a:ext cx="703982" cy="733425"/>
              </a:xfrm>
              <a:prstGeom prst="rect">
                <a:avLst/>
              </a:prstGeom>
            </p:spPr>
            <p:txBody>
              <a:bodyPr lIns="50800" tIns="50800" rIns="50800" bIns="50800" rtlCol="0" anchor="ctr"/>
              <a:lstStyle/>
              <a:p>
                <a:pPr algn="ctr">
                  <a:lnSpc>
                    <a:spcPts val="2659"/>
                  </a:lnSpc>
                </a:pPr>
                <a:endParaRPr dirty="0"/>
              </a:p>
            </p:txBody>
          </p:sp>
        </p:grpSp>
        <p:sp>
          <p:nvSpPr>
            <p:cNvPr id="6" name="TextBox 6"/>
            <p:cNvSpPr txBox="1"/>
            <p:nvPr/>
          </p:nvSpPr>
          <p:spPr>
            <a:xfrm>
              <a:off x="0" y="409007"/>
              <a:ext cx="2083482" cy="1270099"/>
            </a:xfrm>
            <a:prstGeom prst="rect">
              <a:avLst/>
            </a:prstGeom>
          </p:spPr>
          <p:txBody>
            <a:bodyPr lIns="0" tIns="0" rIns="0" bIns="0" rtlCol="0" anchor="t">
              <a:spAutoFit/>
            </a:bodyPr>
            <a:lstStyle/>
            <a:p>
              <a:pPr algn="ctr">
                <a:lnSpc>
                  <a:spcPts val="7805"/>
                </a:lnSpc>
              </a:pPr>
              <a:r>
                <a:rPr lang="en-US" sz="5575" b="1" dirty="0">
                  <a:solidFill>
                    <a:srgbClr val="000000"/>
                  </a:solidFill>
                  <a:latin typeface="Arimo Bold"/>
                  <a:ea typeface="Arimo Bold"/>
                  <a:cs typeface="Arimo Bold"/>
                  <a:sym typeface="Arimo Bold"/>
                </a:rPr>
                <a:t>5</a:t>
              </a:r>
            </a:p>
          </p:txBody>
        </p:sp>
      </p:grpSp>
      <p:sp>
        <p:nvSpPr>
          <p:cNvPr id="7" name="Freeform 7"/>
          <p:cNvSpPr/>
          <p:nvPr/>
        </p:nvSpPr>
        <p:spPr>
          <a:xfrm>
            <a:off x="16074194" y="0"/>
            <a:ext cx="2213806" cy="1673225"/>
          </a:xfrm>
          <a:custGeom>
            <a:avLst/>
            <a:gdLst/>
            <a:ahLst/>
            <a:cxnLst/>
            <a:rect l="l" t="t" r="r" b="b"/>
            <a:pathLst>
              <a:path w="2213806" h="1673225">
                <a:moveTo>
                  <a:pt x="0" y="0"/>
                </a:moveTo>
                <a:lnTo>
                  <a:pt x="2213806" y="0"/>
                </a:lnTo>
                <a:lnTo>
                  <a:pt x="2213806" y="1673225"/>
                </a:lnTo>
                <a:lnTo>
                  <a:pt x="0" y="1673225"/>
                </a:lnTo>
                <a:lnTo>
                  <a:pt x="0" y="0"/>
                </a:lnTo>
                <a:close/>
              </a:path>
            </a:pathLst>
          </a:custGeom>
          <a:blipFill>
            <a:blip r:embed="rId2"/>
            <a:stretch>
              <a:fillRect/>
            </a:stretch>
          </a:blipFill>
        </p:spPr>
        <p:txBody>
          <a:bodyPr/>
          <a:lstStyle/>
          <a:p>
            <a:endParaRPr lang="en-IN" dirty="0"/>
          </a:p>
        </p:txBody>
      </p:sp>
      <p:grpSp>
        <p:nvGrpSpPr>
          <p:cNvPr id="8" name="Group 8"/>
          <p:cNvGrpSpPr/>
          <p:nvPr/>
        </p:nvGrpSpPr>
        <p:grpSpPr>
          <a:xfrm>
            <a:off x="14318522" y="0"/>
            <a:ext cx="1562612" cy="1673225"/>
            <a:chOff x="0" y="0"/>
            <a:chExt cx="2083482" cy="2230967"/>
          </a:xfrm>
        </p:grpSpPr>
        <p:grpSp>
          <p:nvGrpSpPr>
            <p:cNvPr id="9" name="Group 9"/>
            <p:cNvGrpSpPr/>
            <p:nvPr/>
          </p:nvGrpSpPr>
          <p:grpSpPr>
            <a:xfrm>
              <a:off x="37499" y="0"/>
              <a:ext cx="1932284" cy="2230967"/>
              <a:chOff x="0" y="0"/>
              <a:chExt cx="703982" cy="812800"/>
            </a:xfrm>
          </p:grpSpPr>
          <p:sp>
            <p:nvSpPr>
              <p:cNvPr id="10" name="Freeform 10"/>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txBody>
              <a:bodyPr/>
              <a:lstStyle/>
              <a:p>
                <a:endParaRPr lang="en-IN" dirty="0"/>
              </a:p>
            </p:txBody>
          </p:sp>
          <p:sp>
            <p:nvSpPr>
              <p:cNvPr id="11" name="TextBox 11"/>
              <p:cNvSpPr txBox="1"/>
              <p:nvPr/>
            </p:nvSpPr>
            <p:spPr>
              <a:xfrm>
                <a:off x="0" y="-47625"/>
                <a:ext cx="703982" cy="733425"/>
              </a:xfrm>
              <a:prstGeom prst="rect">
                <a:avLst/>
              </a:prstGeom>
            </p:spPr>
            <p:txBody>
              <a:bodyPr lIns="50800" tIns="50800" rIns="50800" bIns="50800" rtlCol="0" anchor="ctr"/>
              <a:lstStyle/>
              <a:p>
                <a:pPr algn="ctr">
                  <a:lnSpc>
                    <a:spcPts val="2659"/>
                  </a:lnSpc>
                </a:pPr>
                <a:endParaRPr dirty="0"/>
              </a:p>
            </p:txBody>
          </p:sp>
        </p:grpSp>
        <p:sp>
          <p:nvSpPr>
            <p:cNvPr id="12" name="TextBox 12"/>
            <p:cNvSpPr txBox="1"/>
            <p:nvPr/>
          </p:nvSpPr>
          <p:spPr>
            <a:xfrm>
              <a:off x="0" y="409007"/>
              <a:ext cx="2083482" cy="1217256"/>
            </a:xfrm>
            <a:prstGeom prst="rect">
              <a:avLst/>
            </a:prstGeom>
          </p:spPr>
          <p:txBody>
            <a:bodyPr lIns="0" tIns="0" rIns="0" bIns="0" rtlCol="0" anchor="t">
              <a:spAutoFit/>
            </a:bodyPr>
            <a:lstStyle/>
            <a:p>
              <a:pPr algn="ctr">
                <a:lnSpc>
                  <a:spcPts val="7805"/>
                </a:lnSpc>
              </a:pPr>
              <a:r>
                <a:rPr lang="en-US" sz="5575" b="1" dirty="0">
                  <a:solidFill>
                    <a:srgbClr val="000000"/>
                  </a:solidFill>
                  <a:latin typeface="Arimo Bold"/>
                  <a:ea typeface="Arimo Bold"/>
                  <a:cs typeface="Arimo Bold"/>
                  <a:sym typeface="Arimo Bold"/>
                </a:rPr>
                <a:t>4</a:t>
              </a:r>
            </a:p>
          </p:txBody>
        </p:sp>
      </p:grpSp>
      <p:sp>
        <p:nvSpPr>
          <p:cNvPr id="13" name="Freeform 13"/>
          <p:cNvSpPr/>
          <p:nvPr/>
        </p:nvSpPr>
        <p:spPr>
          <a:xfrm>
            <a:off x="304094" y="1624493"/>
            <a:ext cx="17679812" cy="8662507"/>
          </a:xfrm>
          <a:custGeom>
            <a:avLst/>
            <a:gdLst/>
            <a:ahLst/>
            <a:cxnLst/>
            <a:rect l="l" t="t" r="r" b="b"/>
            <a:pathLst>
              <a:path w="17848105" h="8159542">
                <a:moveTo>
                  <a:pt x="0" y="0"/>
                </a:moveTo>
                <a:lnTo>
                  <a:pt x="17848104" y="0"/>
                </a:lnTo>
                <a:lnTo>
                  <a:pt x="17848104" y="8159542"/>
                </a:lnTo>
                <a:lnTo>
                  <a:pt x="0" y="8159542"/>
                </a:lnTo>
                <a:lnTo>
                  <a:pt x="0" y="0"/>
                </a:lnTo>
                <a:close/>
              </a:path>
            </a:pathLst>
          </a:custGeom>
          <a:blipFill>
            <a:blip r:embed="rId3"/>
            <a:stretch>
              <a:fillRect/>
            </a:stretch>
          </a:blipFill>
        </p:spPr>
        <p:txBody>
          <a:bodyPr/>
          <a:lstStyle/>
          <a:p>
            <a:endParaRPr lang="en-IN" dirty="0"/>
          </a:p>
        </p:txBody>
      </p:sp>
      <p:sp>
        <p:nvSpPr>
          <p:cNvPr id="14" name="TextBox 14"/>
          <p:cNvSpPr txBox="1"/>
          <p:nvPr/>
        </p:nvSpPr>
        <p:spPr>
          <a:xfrm>
            <a:off x="1840875" y="208470"/>
            <a:ext cx="11066115" cy="1141210"/>
          </a:xfrm>
          <a:prstGeom prst="rect">
            <a:avLst/>
          </a:prstGeom>
        </p:spPr>
        <p:txBody>
          <a:bodyPr wrap="square" lIns="0" tIns="0" rIns="0" bIns="0" rtlCol="0" anchor="t">
            <a:spAutoFit/>
          </a:bodyPr>
          <a:lstStyle/>
          <a:p>
            <a:pPr algn="ctr">
              <a:lnSpc>
                <a:spcPts val="9800"/>
              </a:lnSpc>
            </a:pPr>
            <a:r>
              <a:rPr lang="en-US" sz="6000" b="1" dirty="0">
                <a:solidFill>
                  <a:srgbClr val="000000"/>
                </a:solidFill>
                <a:latin typeface="Times New Roman" panose="02020603050405020304" pitchFamily="18" charset="0"/>
                <a:ea typeface="Canva Sans Bold"/>
                <a:cs typeface="Times New Roman" panose="02020603050405020304" pitchFamily="18" charset="0"/>
                <a:sym typeface="Canva Sans Bold"/>
              </a:rPr>
              <a:t>Literature Review Part 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3" name="TextBox 3"/>
          <p:cNvSpPr txBox="1"/>
          <p:nvPr/>
        </p:nvSpPr>
        <p:spPr>
          <a:xfrm>
            <a:off x="2374209" y="186118"/>
            <a:ext cx="9959591" cy="1141210"/>
          </a:xfrm>
          <a:prstGeom prst="rect">
            <a:avLst/>
          </a:prstGeom>
        </p:spPr>
        <p:txBody>
          <a:bodyPr wrap="square" lIns="0" tIns="0" rIns="0" bIns="0" rtlCol="0" anchor="t">
            <a:spAutoFit/>
          </a:bodyPr>
          <a:lstStyle/>
          <a:p>
            <a:pPr algn="ctr">
              <a:lnSpc>
                <a:spcPts val="9799"/>
              </a:lnSpc>
            </a:pPr>
            <a:r>
              <a:rPr lang="en-US" sz="6000" b="1" dirty="0">
                <a:solidFill>
                  <a:srgbClr val="000000"/>
                </a:solidFill>
                <a:latin typeface="Times New Roman" panose="02020603050405020304" pitchFamily="18" charset="0"/>
                <a:ea typeface="Canva Sans Bold"/>
                <a:cs typeface="Times New Roman" panose="02020603050405020304" pitchFamily="18" charset="0"/>
                <a:sym typeface="Canva Sans Bold"/>
              </a:rPr>
              <a:t>SENSOR SELECTION</a:t>
            </a:r>
          </a:p>
        </p:txBody>
      </p:sp>
      <p:grpSp>
        <p:nvGrpSpPr>
          <p:cNvPr id="4" name="Group 4"/>
          <p:cNvGrpSpPr/>
          <p:nvPr/>
        </p:nvGrpSpPr>
        <p:grpSpPr>
          <a:xfrm>
            <a:off x="16477994" y="0"/>
            <a:ext cx="1562612" cy="1673225"/>
            <a:chOff x="0" y="0"/>
            <a:chExt cx="2083482" cy="2230967"/>
          </a:xfrm>
        </p:grpSpPr>
        <p:grpSp>
          <p:nvGrpSpPr>
            <p:cNvPr id="5" name="Group 5"/>
            <p:cNvGrpSpPr/>
            <p:nvPr/>
          </p:nvGrpSpPr>
          <p:grpSpPr>
            <a:xfrm>
              <a:off x="75599" y="0"/>
              <a:ext cx="1932284" cy="2230967"/>
              <a:chOff x="0" y="0"/>
              <a:chExt cx="703982" cy="812800"/>
            </a:xfrm>
          </p:grpSpPr>
          <p:sp>
            <p:nvSpPr>
              <p:cNvPr id="6" name="Freeform 6"/>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txBody>
              <a:bodyPr/>
              <a:lstStyle/>
              <a:p>
                <a:endParaRPr lang="en-IN" dirty="0"/>
              </a:p>
            </p:txBody>
          </p:sp>
          <p:sp>
            <p:nvSpPr>
              <p:cNvPr id="7" name="TextBox 7"/>
              <p:cNvSpPr txBox="1"/>
              <p:nvPr/>
            </p:nvSpPr>
            <p:spPr>
              <a:xfrm>
                <a:off x="0" y="-47625"/>
                <a:ext cx="703982" cy="733425"/>
              </a:xfrm>
              <a:prstGeom prst="rect">
                <a:avLst/>
              </a:prstGeom>
            </p:spPr>
            <p:txBody>
              <a:bodyPr lIns="50800" tIns="50800" rIns="50800" bIns="50800" rtlCol="0" anchor="ctr"/>
              <a:lstStyle/>
              <a:p>
                <a:pPr algn="ctr">
                  <a:lnSpc>
                    <a:spcPts val="2659"/>
                  </a:lnSpc>
                </a:pPr>
                <a:endParaRPr dirty="0"/>
              </a:p>
            </p:txBody>
          </p:sp>
        </p:grpSp>
        <p:sp>
          <p:nvSpPr>
            <p:cNvPr id="8" name="TextBox 8"/>
            <p:cNvSpPr txBox="1"/>
            <p:nvPr/>
          </p:nvSpPr>
          <p:spPr>
            <a:xfrm>
              <a:off x="0" y="409007"/>
              <a:ext cx="2083482" cy="1270099"/>
            </a:xfrm>
            <a:prstGeom prst="rect">
              <a:avLst/>
            </a:prstGeom>
          </p:spPr>
          <p:txBody>
            <a:bodyPr lIns="0" tIns="0" rIns="0" bIns="0" rtlCol="0" anchor="t">
              <a:spAutoFit/>
            </a:bodyPr>
            <a:lstStyle/>
            <a:p>
              <a:pPr algn="ctr">
                <a:lnSpc>
                  <a:spcPts val="7805"/>
                </a:lnSpc>
              </a:pPr>
              <a:r>
                <a:rPr lang="en-US" sz="5575" b="1" dirty="0">
                  <a:solidFill>
                    <a:srgbClr val="000000"/>
                  </a:solidFill>
                  <a:latin typeface="Arimo Bold"/>
                  <a:ea typeface="Arimo Bold"/>
                  <a:cs typeface="Arimo Bold"/>
                  <a:sym typeface="Arimo Bold"/>
                </a:rPr>
                <a:t>5</a:t>
              </a:r>
            </a:p>
          </p:txBody>
        </p:sp>
      </p:grpSp>
      <p:sp>
        <p:nvSpPr>
          <p:cNvPr id="9" name="Freeform 9"/>
          <p:cNvSpPr/>
          <p:nvPr/>
        </p:nvSpPr>
        <p:spPr>
          <a:xfrm>
            <a:off x="16074194" y="0"/>
            <a:ext cx="2213806" cy="1673225"/>
          </a:xfrm>
          <a:custGeom>
            <a:avLst/>
            <a:gdLst/>
            <a:ahLst/>
            <a:cxnLst/>
            <a:rect l="l" t="t" r="r" b="b"/>
            <a:pathLst>
              <a:path w="2213806" h="1673225">
                <a:moveTo>
                  <a:pt x="0" y="0"/>
                </a:moveTo>
                <a:lnTo>
                  <a:pt x="2213806" y="0"/>
                </a:lnTo>
                <a:lnTo>
                  <a:pt x="2213806" y="1673225"/>
                </a:lnTo>
                <a:lnTo>
                  <a:pt x="0" y="1673225"/>
                </a:lnTo>
                <a:lnTo>
                  <a:pt x="0" y="0"/>
                </a:lnTo>
                <a:close/>
              </a:path>
            </a:pathLst>
          </a:custGeom>
          <a:blipFill>
            <a:blip r:embed="rId2"/>
            <a:stretch>
              <a:fillRect/>
            </a:stretch>
          </a:blipFill>
        </p:spPr>
        <p:txBody>
          <a:bodyPr/>
          <a:lstStyle/>
          <a:p>
            <a:endParaRPr lang="en-IN" dirty="0"/>
          </a:p>
        </p:txBody>
      </p:sp>
      <p:grpSp>
        <p:nvGrpSpPr>
          <p:cNvPr id="10" name="Group 10"/>
          <p:cNvGrpSpPr/>
          <p:nvPr/>
        </p:nvGrpSpPr>
        <p:grpSpPr>
          <a:xfrm>
            <a:off x="14318522" y="0"/>
            <a:ext cx="1562612" cy="1673225"/>
            <a:chOff x="0" y="0"/>
            <a:chExt cx="2083482" cy="2230967"/>
          </a:xfrm>
        </p:grpSpPr>
        <p:grpSp>
          <p:nvGrpSpPr>
            <p:cNvPr id="11" name="Group 11"/>
            <p:cNvGrpSpPr/>
            <p:nvPr/>
          </p:nvGrpSpPr>
          <p:grpSpPr>
            <a:xfrm>
              <a:off x="37499" y="0"/>
              <a:ext cx="1932284" cy="2230967"/>
              <a:chOff x="0" y="0"/>
              <a:chExt cx="703982" cy="812800"/>
            </a:xfrm>
          </p:grpSpPr>
          <p:sp>
            <p:nvSpPr>
              <p:cNvPr id="12" name="Freeform 12"/>
              <p:cNvSpPr/>
              <p:nvPr/>
            </p:nvSpPr>
            <p:spPr>
              <a:xfrm>
                <a:off x="0" y="0"/>
                <a:ext cx="703982" cy="812800"/>
              </a:xfrm>
              <a:custGeom>
                <a:avLst/>
                <a:gdLst/>
                <a:ahLst/>
                <a:cxnLst/>
                <a:rect l="l" t="t" r="r" b="b"/>
                <a:pathLst>
                  <a:path w="703982" h="812800">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txBody>
              <a:bodyPr/>
              <a:lstStyle/>
              <a:p>
                <a:endParaRPr lang="en-IN" dirty="0"/>
              </a:p>
            </p:txBody>
          </p:sp>
          <p:sp>
            <p:nvSpPr>
              <p:cNvPr id="13" name="TextBox 13"/>
              <p:cNvSpPr txBox="1"/>
              <p:nvPr/>
            </p:nvSpPr>
            <p:spPr>
              <a:xfrm>
                <a:off x="0" y="-47625"/>
                <a:ext cx="703982" cy="733425"/>
              </a:xfrm>
              <a:prstGeom prst="rect">
                <a:avLst/>
              </a:prstGeom>
            </p:spPr>
            <p:txBody>
              <a:bodyPr lIns="50800" tIns="50800" rIns="50800" bIns="50800" rtlCol="0" anchor="ctr"/>
              <a:lstStyle/>
              <a:p>
                <a:pPr algn="ctr">
                  <a:lnSpc>
                    <a:spcPts val="2659"/>
                  </a:lnSpc>
                </a:pPr>
                <a:endParaRPr dirty="0"/>
              </a:p>
            </p:txBody>
          </p:sp>
        </p:grpSp>
        <p:sp>
          <p:nvSpPr>
            <p:cNvPr id="14" name="TextBox 14"/>
            <p:cNvSpPr txBox="1"/>
            <p:nvPr/>
          </p:nvSpPr>
          <p:spPr>
            <a:xfrm>
              <a:off x="0" y="409007"/>
              <a:ext cx="2083482" cy="1270035"/>
            </a:xfrm>
            <a:prstGeom prst="rect">
              <a:avLst/>
            </a:prstGeom>
          </p:spPr>
          <p:txBody>
            <a:bodyPr lIns="0" tIns="0" rIns="0" bIns="0" rtlCol="0" anchor="t">
              <a:spAutoFit/>
            </a:bodyPr>
            <a:lstStyle/>
            <a:p>
              <a:pPr algn="ctr">
                <a:lnSpc>
                  <a:spcPts val="7805"/>
                </a:lnSpc>
              </a:pPr>
              <a:r>
                <a:rPr lang="en-US" sz="5575" b="1" dirty="0">
                  <a:solidFill>
                    <a:srgbClr val="000000"/>
                  </a:solidFill>
                  <a:latin typeface="Arimo Bold"/>
                  <a:ea typeface="Arimo Bold"/>
                  <a:cs typeface="Arimo Bold"/>
                  <a:sym typeface="Arimo Bold"/>
                </a:rPr>
                <a:t>5</a:t>
              </a:r>
            </a:p>
          </p:txBody>
        </p:sp>
      </p:grpSp>
      <p:graphicFrame>
        <p:nvGraphicFramePr>
          <p:cNvPr id="15" name="Table 14">
            <a:extLst>
              <a:ext uri="{FF2B5EF4-FFF2-40B4-BE49-F238E27FC236}">
                <a16:creationId xmlns:a16="http://schemas.microsoft.com/office/drawing/2014/main" id="{4724A0A5-84E7-686E-C7C1-5A53847005C1}"/>
              </a:ext>
            </a:extLst>
          </p:cNvPr>
          <p:cNvGraphicFramePr>
            <a:graphicFrameLocks noGrp="1"/>
          </p:cNvGraphicFramePr>
          <p:nvPr>
            <p:extLst>
              <p:ext uri="{D42A27DB-BD31-4B8C-83A1-F6EECF244321}">
                <p14:modId xmlns:p14="http://schemas.microsoft.com/office/powerpoint/2010/main" val="3158414630"/>
              </p:ext>
            </p:extLst>
          </p:nvPr>
        </p:nvGraphicFramePr>
        <p:xfrm>
          <a:off x="1143000" y="1808753"/>
          <a:ext cx="15668422" cy="8370387"/>
        </p:xfrm>
        <a:graphic>
          <a:graphicData uri="http://schemas.openxmlformats.org/drawingml/2006/table">
            <a:tbl>
              <a:tblPr firstRow="1" firstCol="1" bandRow="1">
                <a:tableStyleId>{5C22544A-7EE6-4342-B048-85BDC9FD1C3A}</a:tableStyleId>
              </a:tblPr>
              <a:tblGrid>
                <a:gridCol w="3301070">
                  <a:extLst>
                    <a:ext uri="{9D8B030D-6E8A-4147-A177-3AD203B41FA5}">
                      <a16:colId xmlns:a16="http://schemas.microsoft.com/office/drawing/2014/main" val="1584953504"/>
                    </a:ext>
                  </a:extLst>
                </a:gridCol>
                <a:gridCol w="3662480">
                  <a:extLst>
                    <a:ext uri="{9D8B030D-6E8A-4147-A177-3AD203B41FA5}">
                      <a16:colId xmlns:a16="http://schemas.microsoft.com/office/drawing/2014/main" val="4035216995"/>
                    </a:ext>
                  </a:extLst>
                </a:gridCol>
                <a:gridCol w="8704872">
                  <a:extLst>
                    <a:ext uri="{9D8B030D-6E8A-4147-A177-3AD203B41FA5}">
                      <a16:colId xmlns:a16="http://schemas.microsoft.com/office/drawing/2014/main" val="567061959"/>
                    </a:ext>
                  </a:extLst>
                </a:gridCol>
              </a:tblGrid>
              <a:tr h="687181">
                <a:tc>
                  <a:txBody>
                    <a:bodyPr/>
                    <a:lstStyle/>
                    <a:p>
                      <a:pPr algn="just">
                        <a:lnSpc>
                          <a:spcPct val="150000"/>
                        </a:lnSpc>
                        <a:spcAft>
                          <a:spcPts val="800"/>
                        </a:spcAft>
                        <a:buNone/>
                      </a:pPr>
                      <a:r>
                        <a:rPr lang="en-IN" sz="2800" kern="100" dirty="0">
                          <a:effectLst/>
                        </a:rPr>
                        <a:t>Measurement</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tc>
                  <a:txBody>
                    <a:bodyPr/>
                    <a:lstStyle/>
                    <a:p>
                      <a:pPr algn="just">
                        <a:lnSpc>
                          <a:spcPct val="150000"/>
                        </a:lnSpc>
                        <a:spcAft>
                          <a:spcPts val="800"/>
                        </a:spcAft>
                        <a:buNone/>
                      </a:pPr>
                      <a:r>
                        <a:rPr lang="en-IN" sz="2800" kern="100" dirty="0">
                          <a:effectLst/>
                        </a:rPr>
                        <a:t>Selected component</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tc>
                  <a:txBody>
                    <a:bodyPr/>
                    <a:lstStyle/>
                    <a:p>
                      <a:pPr algn="just">
                        <a:lnSpc>
                          <a:spcPct val="150000"/>
                        </a:lnSpc>
                        <a:spcAft>
                          <a:spcPts val="800"/>
                        </a:spcAft>
                        <a:buNone/>
                      </a:pPr>
                      <a:r>
                        <a:rPr lang="en-IN" sz="2800" kern="100" dirty="0">
                          <a:effectLst/>
                        </a:rPr>
                        <a:t>Function</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extLst>
                  <a:ext uri="{0D108BD9-81ED-4DB2-BD59-A6C34878D82A}">
                    <a16:rowId xmlns:a16="http://schemas.microsoft.com/office/drawing/2014/main" val="1609410377"/>
                  </a:ext>
                </a:extLst>
              </a:tr>
              <a:tr h="1052685">
                <a:tc>
                  <a:txBody>
                    <a:bodyPr/>
                    <a:lstStyle/>
                    <a:p>
                      <a:pPr algn="just">
                        <a:lnSpc>
                          <a:spcPct val="150000"/>
                        </a:lnSpc>
                        <a:spcAft>
                          <a:spcPts val="800"/>
                        </a:spcAft>
                        <a:buNone/>
                      </a:pPr>
                      <a:r>
                        <a:rPr lang="en-IN" sz="2800" kern="100" dirty="0">
                          <a:effectLst/>
                        </a:rPr>
                        <a:t>ECG</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tc>
                  <a:txBody>
                    <a:bodyPr/>
                    <a:lstStyle/>
                    <a:p>
                      <a:pPr algn="just">
                        <a:lnSpc>
                          <a:spcPct val="150000"/>
                        </a:lnSpc>
                        <a:spcAft>
                          <a:spcPts val="800"/>
                        </a:spcAft>
                        <a:buNone/>
                      </a:pPr>
                      <a:r>
                        <a:rPr lang="en-IN" sz="2800" kern="100" dirty="0">
                          <a:effectLst/>
                        </a:rPr>
                        <a:t>AD8232 </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tc>
                  <a:txBody>
                    <a:bodyPr/>
                    <a:lstStyle/>
                    <a:p>
                      <a:pPr algn="just">
                        <a:lnSpc>
                          <a:spcPct val="150000"/>
                        </a:lnSpc>
                        <a:spcAft>
                          <a:spcPts val="800"/>
                        </a:spcAft>
                        <a:buNone/>
                      </a:pPr>
                      <a:r>
                        <a:rPr lang="en-IN" sz="2800" kern="100" dirty="0">
                          <a:effectLst/>
                        </a:rPr>
                        <a:t>Acquires cardiac electrical activity for heart rate and RR interval analysis.</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extLst>
                  <a:ext uri="{0D108BD9-81ED-4DB2-BD59-A6C34878D82A}">
                    <a16:rowId xmlns:a16="http://schemas.microsoft.com/office/drawing/2014/main" val="1156128596"/>
                  </a:ext>
                </a:extLst>
              </a:tr>
              <a:tr h="1418189">
                <a:tc>
                  <a:txBody>
                    <a:bodyPr/>
                    <a:lstStyle/>
                    <a:p>
                      <a:pPr algn="just">
                        <a:lnSpc>
                          <a:spcPct val="150000"/>
                        </a:lnSpc>
                        <a:spcAft>
                          <a:spcPts val="800"/>
                        </a:spcAft>
                        <a:buNone/>
                      </a:pPr>
                      <a:r>
                        <a:rPr lang="en-IN" sz="2800" kern="100" dirty="0">
                          <a:effectLst/>
                        </a:rPr>
                        <a:t>PPG / SpO₂</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tc>
                  <a:txBody>
                    <a:bodyPr/>
                    <a:lstStyle/>
                    <a:p>
                      <a:pPr algn="just">
                        <a:lnSpc>
                          <a:spcPct val="150000"/>
                        </a:lnSpc>
                        <a:spcAft>
                          <a:spcPts val="800"/>
                        </a:spcAft>
                        <a:buNone/>
                      </a:pPr>
                      <a:r>
                        <a:rPr lang="en-IN" sz="2800" kern="100" dirty="0">
                          <a:effectLst/>
                        </a:rPr>
                        <a:t>MAX30102</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tc>
                  <a:txBody>
                    <a:bodyPr/>
                    <a:lstStyle/>
                    <a:p>
                      <a:pPr algn="just">
                        <a:lnSpc>
                          <a:spcPct val="150000"/>
                        </a:lnSpc>
                        <a:spcAft>
                          <a:spcPts val="800"/>
                        </a:spcAft>
                        <a:buNone/>
                      </a:pPr>
                      <a:r>
                        <a:rPr lang="en-IN" sz="2800" kern="100" dirty="0">
                          <a:effectLst/>
                        </a:rPr>
                        <a:t>Provides optical pulse measurements and supports blood oxygen saturation estimation.</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extLst>
                  <a:ext uri="{0D108BD9-81ED-4DB2-BD59-A6C34878D82A}">
                    <a16:rowId xmlns:a16="http://schemas.microsoft.com/office/drawing/2014/main" val="4108893280"/>
                  </a:ext>
                </a:extLst>
              </a:tr>
              <a:tr h="1052685">
                <a:tc>
                  <a:txBody>
                    <a:bodyPr/>
                    <a:lstStyle/>
                    <a:p>
                      <a:pPr algn="just">
                        <a:lnSpc>
                          <a:spcPct val="150000"/>
                        </a:lnSpc>
                        <a:spcAft>
                          <a:spcPts val="800"/>
                        </a:spcAft>
                        <a:buNone/>
                      </a:pPr>
                      <a:r>
                        <a:rPr lang="en-IN" sz="2800" kern="100" dirty="0">
                          <a:effectLst/>
                        </a:rPr>
                        <a:t>Respiration</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tc>
                  <a:txBody>
                    <a:bodyPr/>
                    <a:lstStyle/>
                    <a:p>
                      <a:pPr algn="just">
                        <a:lnSpc>
                          <a:spcPct val="150000"/>
                        </a:lnSpc>
                        <a:spcAft>
                          <a:spcPts val="800"/>
                        </a:spcAft>
                        <a:buNone/>
                      </a:pPr>
                      <a:r>
                        <a:rPr lang="en-IN" sz="2800" kern="100" dirty="0">
                          <a:effectLst/>
                        </a:rPr>
                        <a:t>Stretch / respiratory belt sensor</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tc>
                  <a:txBody>
                    <a:bodyPr/>
                    <a:lstStyle/>
                    <a:p>
                      <a:pPr algn="just">
                        <a:lnSpc>
                          <a:spcPct val="150000"/>
                        </a:lnSpc>
                        <a:spcAft>
                          <a:spcPts val="800"/>
                        </a:spcAft>
                        <a:buNone/>
                      </a:pPr>
                      <a:r>
                        <a:rPr lang="en-IN" sz="2800" kern="100" dirty="0">
                          <a:effectLst/>
                        </a:rPr>
                        <a:t>Measures chest or abdominal expansion to monitor breathing patterns.</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extLst>
                  <a:ext uri="{0D108BD9-81ED-4DB2-BD59-A6C34878D82A}">
                    <a16:rowId xmlns:a16="http://schemas.microsoft.com/office/drawing/2014/main" val="3301754458"/>
                  </a:ext>
                </a:extLst>
              </a:tr>
              <a:tr h="1085160">
                <a:tc>
                  <a:txBody>
                    <a:bodyPr/>
                    <a:lstStyle/>
                    <a:p>
                      <a:pPr algn="just">
                        <a:lnSpc>
                          <a:spcPct val="150000"/>
                        </a:lnSpc>
                        <a:spcAft>
                          <a:spcPts val="800"/>
                        </a:spcAft>
                        <a:buNone/>
                      </a:pPr>
                      <a:r>
                        <a:rPr lang="en-IN" sz="2800" kern="100" dirty="0">
                          <a:effectLst/>
                        </a:rPr>
                        <a:t>Skin temperature</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tc>
                  <a:txBody>
                    <a:bodyPr/>
                    <a:lstStyle/>
                    <a:p>
                      <a:pPr algn="just">
                        <a:lnSpc>
                          <a:spcPct val="150000"/>
                        </a:lnSpc>
                        <a:spcAft>
                          <a:spcPts val="800"/>
                        </a:spcAft>
                        <a:buNone/>
                      </a:pPr>
                      <a:r>
                        <a:rPr lang="en-IN" sz="2800" kern="100" dirty="0">
                          <a:effectLst/>
                        </a:rPr>
                        <a:t>MLX90614</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tc>
                  <a:txBody>
                    <a:bodyPr/>
                    <a:lstStyle/>
                    <a:p>
                      <a:pPr algn="just">
                        <a:lnSpc>
                          <a:spcPct val="150000"/>
                        </a:lnSpc>
                        <a:spcAft>
                          <a:spcPts val="800"/>
                        </a:spcAft>
                        <a:buNone/>
                      </a:pPr>
                      <a:r>
                        <a:rPr lang="en-IN" sz="2800" kern="100" dirty="0">
                          <a:effectLst/>
                        </a:rPr>
                        <a:t>Measures temperature for monitoring changes in skin temperature.</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extLst>
                  <a:ext uri="{0D108BD9-81ED-4DB2-BD59-A6C34878D82A}">
                    <a16:rowId xmlns:a16="http://schemas.microsoft.com/office/drawing/2014/main" val="593588762"/>
                  </a:ext>
                </a:extLst>
              </a:tr>
              <a:tr h="1052685">
                <a:tc>
                  <a:txBody>
                    <a:bodyPr/>
                    <a:lstStyle/>
                    <a:p>
                      <a:pPr algn="just">
                        <a:lnSpc>
                          <a:spcPct val="150000"/>
                        </a:lnSpc>
                        <a:spcAft>
                          <a:spcPts val="800"/>
                        </a:spcAft>
                        <a:buNone/>
                      </a:pPr>
                      <a:r>
                        <a:rPr lang="en-IN" sz="2800" kern="100" dirty="0">
                          <a:effectLst/>
                        </a:rPr>
                        <a:t>Motion / Activity</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tc>
                  <a:txBody>
                    <a:bodyPr/>
                    <a:lstStyle/>
                    <a:p>
                      <a:pPr algn="just">
                        <a:lnSpc>
                          <a:spcPct val="150000"/>
                        </a:lnSpc>
                        <a:spcAft>
                          <a:spcPts val="800"/>
                        </a:spcAft>
                        <a:buNone/>
                      </a:pPr>
                      <a:r>
                        <a:rPr lang="en-IN" sz="2800" kern="100" dirty="0">
                          <a:effectLst/>
                        </a:rPr>
                        <a:t>MPU6050</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tc>
                  <a:txBody>
                    <a:bodyPr/>
                    <a:lstStyle/>
                    <a:p>
                      <a:pPr algn="just">
                        <a:lnSpc>
                          <a:spcPct val="150000"/>
                        </a:lnSpc>
                        <a:spcAft>
                          <a:spcPts val="800"/>
                        </a:spcAft>
                        <a:buNone/>
                      </a:pPr>
                      <a:r>
                        <a:rPr lang="en-IN" sz="2800" kern="100" dirty="0">
                          <a:effectLst/>
                        </a:rPr>
                        <a:t>Provides inertial measurements for movement, posture, and orientation analysis.</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extLst>
                  <a:ext uri="{0D108BD9-81ED-4DB2-BD59-A6C34878D82A}">
                    <a16:rowId xmlns:a16="http://schemas.microsoft.com/office/drawing/2014/main" val="2390216552"/>
                  </a:ext>
                </a:extLst>
              </a:tr>
              <a:tr h="1418189">
                <a:tc>
                  <a:txBody>
                    <a:bodyPr/>
                    <a:lstStyle/>
                    <a:p>
                      <a:pPr algn="just">
                        <a:lnSpc>
                          <a:spcPct val="150000"/>
                        </a:lnSpc>
                        <a:spcAft>
                          <a:spcPts val="800"/>
                        </a:spcAft>
                        <a:buNone/>
                      </a:pPr>
                      <a:r>
                        <a:rPr lang="en-IN" sz="2800" kern="100" dirty="0">
                          <a:effectLst/>
                        </a:rPr>
                        <a:t>Embedded processing</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tc>
                  <a:txBody>
                    <a:bodyPr/>
                    <a:lstStyle/>
                    <a:p>
                      <a:pPr algn="just">
                        <a:lnSpc>
                          <a:spcPct val="150000"/>
                        </a:lnSpc>
                        <a:spcAft>
                          <a:spcPts val="800"/>
                        </a:spcAft>
                        <a:buNone/>
                      </a:pPr>
                      <a:r>
                        <a:rPr lang="en-IN" sz="2800" kern="100" dirty="0">
                          <a:effectLst/>
                        </a:rPr>
                        <a:t>ESP32</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tc>
                  <a:txBody>
                    <a:bodyPr/>
                    <a:lstStyle/>
                    <a:p>
                      <a:pPr algn="just">
                        <a:lnSpc>
                          <a:spcPct val="150000"/>
                        </a:lnSpc>
                        <a:spcAft>
                          <a:spcPts val="800"/>
                        </a:spcAft>
                        <a:buNone/>
                      </a:pPr>
                      <a:r>
                        <a:rPr lang="en-IN" sz="2800" kern="100" dirty="0">
                          <a:effectLst/>
                        </a:rPr>
                        <a:t>Interfaces with sensors, processes data, and supports communication with external software modules.</a:t>
                      </a:r>
                      <a:endParaRPr lang="en-IN" sz="2800" kern="1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endParaRPr>
                    </a:p>
                  </a:txBody>
                  <a:tcPr marL="53471" marR="53471" marT="0" marB="0"/>
                </a:tc>
                <a:extLst>
                  <a:ext uri="{0D108BD9-81ED-4DB2-BD59-A6C34878D82A}">
                    <a16:rowId xmlns:a16="http://schemas.microsoft.com/office/drawing/2014/main" val="11272805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3EB"/>
        </a:solidFill>
        <a:effectLst/>
      </p:bgPr>
    </p:bg>
    <p:spTree>
      <p:nvGrpSpPr>
        <p:cNvPr id="1" name=""/>
        <p:cNvGrpSpPr/>
        <p:nvPr/>
      </p:nvGrpSpPr>
      <p:grpSpPr>
        <a:xfrm>
          <a:off x="0" y="0"/>
          <a:ext cx="0" cy="0"/>
          <a:chOff x="0" y="0"/>
          <a:chExt cx="0" cy="0"/>
        </a:xfrm>
      </p:grpSpPr>
      <p:sp>
        <p:nvSpPr>
          <p:cNvPr id="2" name="TextBox 2"/>
          <p:cNvSpPr txBox="1"/>
          <p:nvPr/>
        </p:nvSpPr>
        <p:spPr>
          <a:xfrm>
            <a:off x="4554977" y="3748035"/>
            <a:ext cx="11627497" cy="2269852"/>
          </a:xfrm>
          <a:prstGeom prst="rect">
            <a:avLst/>
          </a:prstGeom>
        </p:spPr>
        <p:txBody>
          <a:bodyPr lIns="0" tIns="0" rIns="0" bIns="0" rtlCol="0" anchor="t">
            <a:spAutoFit/>
          </a:bodyPr>
          <a:lstStyle/>
          <a:p>
            <a:pPr algn="ctr">
              <a:lnSpc>
                <a:spcPts val="20573"/>
              </a:lnSpc>
            </a:pPr>
            <a:r>
              <a:rPr lang="en-US" sz="10000" dirty="0">
                <a:solidFill>
                  <a:srgbClr val="000000"/>
                </a:solidFill>
                <a:latin typeface="Times New Roman" panose="02020603050405020304" pitchFamily="18" charset="0"/>
                <a:ea typeface="Alatsi"/>
                <a:cs typeface="Times New Roman" panose="02020603050405020304" pitchFamily="18" charset="0"/>
                <a:sym typeface="Alatsi"/>
              </a:rPr>
              <a:t>THANK YOU</a:t>
            </a:r>
          </a:p>
        </p:txBody>
      </p:sp>
      <p:grpSp>
        <p:nvGrpSpPr>
          <p:cNvPr id="3" name="Group 3"/>
          <p:cNvGrpSpPr/>
          <p:nvPr/>
        </p:nvGrpSpPr>
        <p:grpSpPr>
          <a:xfrm>
            <a:off x="-31071" y="0"/>
            <a:ext cx="4239083" cy="10287000"/>
            <a:chOff x="0" y="0"/>
            <a:chExt cx="5652111" cy="13716000"/>
          </a:xfrm>
        </p:grpSpPr>
        <p:grpSp>
          <p:nvGrpSpPr>
            <p:cNvPr id="4" name="Group 4"/>
            <p:cNvGrpSpPr/>
            <p:nvPr/>
          </p:nvGrpSpPr>
          <p:grpSpPr>
            <a:xfrm>
              <a:off x="2826056" y="0"/>
              <a:ext cx="2826056" cy="13716000"/>
              <a:chOff x="0" y="0"/>
              <a:chExt cx="558233" cy="2709333"/>
            </a:xfrm>
          </p:grpSpPr>
          <p:sp>
            <p:nvSpPr>
              <p:cNvPr id="5" name="Freeform 5"/>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E0D9"/>
              </a:solidFill>
            </p:spPr>
            <p:txBody>
              <a:bodyPr/>
              <a:lstStyle/>
              <a:p>
                <a:endParaRPr lang="en-IN" dirty="0"/>
              </a:p>
            </p:txBody>
          </p:sp>
          <p:sp>
            <p:nvSpPr>
              <p:cNvPr id="6" name="TextBox 6"/>
              <p:cNvSpPr txBox="1"/>
              <p:nvPr/>
            </p:nvSpPr>
            <p:spPr>
              <a:xfrm>
                <a:off x="0" y="-47625"/>
                <a:ext cx="558233" cy="2756958"/>
              </a:xfrm>
              <a:prstGeom prst="rect">
                <a:avLst/>
              </a:prstGeom>
            </p:spPr>
            <p:txBody>
              <a:bodyPr lIns="50800" tIns="50800" rIns="50800" bIns="50800" rtlCol="0" anchor="ctr"/>
              <a:lstStyle/>
              <a:p>
                <a:pPr algn="ctr">
                  <a:lnSpc>
                    <a:spcPts val="2659"/>
                  </a:lnSpc>
                </a:pPr>
                <a:endParaRPr dirty="0"/>
              </a:p>
            </p:txBody>
          </p:sp>
        </p:grpSp>
        <p:grpSp>
          <p:nvGrpSpPr>
            <p:cNvPr id="7" name="Group 7"/>
            <p:cNvGrpSpPr/>
            <p:nvPr/>
          </p:nvGrpSpPr>
          <p:grpSpPr>
            <a:xfrm>
              <a:off x="1413028" y="0"/>
              <a:ext cx="2826056" cy="13716000"/>
              <a:chOff x="0" y="0"/>
              <a:chExt cx="558233" cy="2709333"/>
            </a:xfrm>
          </p:grpSpPr>
          <p:sp>
            <p:nvSpPr>
              <p:cNvPr id="8" name="Freeform 8"/>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9FC3D0"/>
              </a:solidFill>
            </p:spPr>
            <p:txBody>
              <a:bodyPr/>
              <a:lstStyle/>
              <a:p>
                <a:endParaRPr lang="en-IN" dirty="0"/>
              </a:p>
            </p:txBody>
          </p:sp>
          <p:sp>
            <p:nvSpPr>
              <p:cNvPr id="9" name="TextBox 9"/>
              <p:cNvSpPr txBox="1"/>
              <p:nvPr/>
            </p:nvSpPr>
            <p:spPr>
              <a:xfrm>
                <a:off x="0" y="-47625"/>
                <a:ext cx="558233" cy="2756958"/>
              </a:xfrm>
              <a:prstGeom prst="rect">
                <a:avLst/>
              </a:prstGeom>
            </p:spPr>
            <p:txBody>
              <a:bodyPr lIns="50800" tIns="50800" rIns="50800" bIns="50800" rtlCol="0" anchor="ctr"/>
              <a:lstStyle/>
              <a:p>
                <a:pPr algn="ctr">
                  <a:lnSpc>
                    <a:spcPts val="2659"/>
                  </a:lnSpc>
                </a:pPr>
                <a:endParaRPr dirty="0"/>
              </a:p>
            </p:txBody>
          </p:sp>
        </p:grpSp>
        <p:grpSp>
          <p:nvGrpSpPr>
            <p:cNvPr id="10" name="Group 10"/>
            <p:cNvGrpSpPr/>
            <p:nvPr/>
          </p:nvGrpSpPr>
          <p:grpSpPr>
            <a:xfrm>
              <a:off x="0" y="0"/>
              <a:ext cx="2826056" cy="13716000"/>
              <a:chOff x="0" y="0"/>
              <a:chExt cx="558233" cy="2709333"/>
            </a:xfrm>
          </p:grpSpPr>
          <p:sp>
            <p:nvSpPr>
              <p:cNvPr id="11" name="Freeform 11"/>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solidFill>
                <a:srgbClr val="E9C7C6"/>
              </a:solidFill>
            </p:spPr>
            <p:txBody>
              <a:bodyPr/>
              <a:lstStyle/>
              <a:p>
                <a:endParaRPr lang="en-IN" dirty="0"/>
              </a:p>
            </p:txBody>
          </p:sp>
          <p:sp>
            <p:nvSpPr>
              <p:cNvPr id="12" name="TextBox 12"/>
              <p:cNvSpPr txBox="1"/>
              <p:nvPr/>
            </p:nvSpPr>
            <p:spPr>
              <a:xfrm>
                <a:off x="0" y="-47625"/>
                <a:ext cx="558233" cy="2756958"/>
              </a:xfrm>
              <a:prstGeom prst="rect">
                <a:avLst/>
              </a:prstGeom>
            </p:spPr>
            <p:txBody>
              <a:bodyPr lIns="50800" tIns="50800" rIns="50800" bIns="50800" rtlCol="0" anchor="ctr"/>
              <a:lstStyle/>
              <a:p>
                <a:pPr algn="ctr">
                  <a:lnSpc>
                    <a:spcPts val="2659"/>
                  </a:lnSpc>
                </a:pPr>
                <a:endParaRPr dirty="0"/>
              </a:p>
            </p:txBody>
          </p:sp>
        </p:grpSp>
      </p:grpSp>
      <p:sp>
        <p:nvSpPr>
          <p:cNvPr id="13" name="Freeform 13"/>
          <p:cNvSpPr/>
          <p:nvPr/>
        </p:nvSpPr>
        <p:spPr>
          <a:xfrm>
            <a:off x="12412831" y="8026211"/>
            <a:ext cx="7315200" cy="2477783"/>
          </a:xfrm>
          <a:custGeom>
            <a:avLst/>
            <a:gdLst/>
            <a:ahLst/>
            <a:cxnLst/>
            <a:rect l="l" t="t" r="r" b="b"/>
            <a:pathLst>
              <a:path w="7315200" h="2477783">
                <a:moveTo>
                  <a:pt x="0" y="0"/>
                </a:moveTo>
                <a:lnTo>
                  <a:pt x="7315200" y="0"/>
                </a:lnTo>
                <a:lnTo>
                  <a:pt x="7315200" y="2477783"/>
                </a:lnTo>
                <a:lnTo>
                  <a:pt x="0" y="247778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14" name="Freeform 14"/>
          <p:cNvSpPr/>
          <p:nvPr/>
        </p:nvSpPr>
        <p:spPr>
          <a:xfrm>
            <a:off x="11413653" y="-573693"/>
            <a:ext cx="7315200" cy="2477783"/>
          </a:xfrm>
          <a:custGeom>
            <a:avLst/>
            <a:gdLst/>
            <a:ahLst/>
            <a:cxnLst/>
            <a:rect l="l" t="t" r="r" b="b"/>
            <a:pathLst>
              <a:path w="7315200" h="2477783">
                <a:moveTo>
                  <a:pt x="0" y="0"/>
                </a:moveTo>
                <a:lnTo>
                  <a:pt x="7315200" y="0"/>
                </a:lnTo>
                <a:lnTo>
                  <a:pt x="7315200" y="2477784"/>
                </a:lnTo>
                <a:lnTo>
                  <a:pt x="0" y="24777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15" name="Freeform 15"/>
          <p:cNvSpPr/>
          <p:nvPr/>
        </p:nvSpPr>
        <p:spPr>
          <a:xfrm>
            <a:off x="16074194" y="0"/>
            <a:ext cx="2213806" cy="1673225"/>
          </a:xfrm>
          <a:custGeom>
            <a:avLst/>
            <a:gdLst/>
            <a:ahLst/>
            <a:cxnLst/>
            <a:rect l="l" t="t" r="r" b="b"/>
            <a:pathLst>
              <a:path w="2213806" h="1673225">
                <a:moveTo>
                  <a:pt x="0" y="0"/>
                </a:moveTo>
                <a:lnTo>
                  <a:pt x="2213806" y="0"/>
                </a:lnTo>
                <a:lnTo>
                  <a:pt x="2213806" y="1673225"/>
                </a:lnTo>
                <a:lnTo>
                  <a:pt x="0" y="1673225"/>
                </a:lnTo>
                <a:lnTo>
                  <a:pt x="0" y="0"/>
                </a:lnTo>
                <a:close/>
              </a:path>
            </a:pathLst>
          </a:custGeom>
          <a:blipFill>
            <a:blip r:embed="rId3"/>
            <a:stretch>
              <a:fillRect/>
            </a:stretch>
          </a:blipFill>
        </p:spPr>
        <p:txBody>
          <a:bodyPr/>
          <a:lstStyle/>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2198</TotalTime>
  <Words>1049</Words>
  <Application>Microsoft Office PowerPoint</Application>
  <PresentationFormat>Custom</PresentationFormat>
  <Paragraphs>77</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Alatsi</vt:lpstr>
      <vt:lpstr>Arimo Bold</vt:lpstr>
      <vt:lpstr>Times New Roman</vt:lpstr>
      <vt:lpstr>Calibri</vt:lpstr>
      <vt:lpstr>Canva Sans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Major_Project_Grp3</dc:title>
  <cp:lastModifiedBy>priyanka vaidya</cp:lastModifiedBy>
  <cp:revision>9</cp:revision>
  <dcterms:created xsi:type="dcterms:W3CDTF">2006-08-16T00:00:00Z</dcterms:created>
  <dcterms:modified xsi:type="dcterms:W3CDTF">2026-10-21T02:57:48Z</dcterms:modified>
  <dc:identifier>DAHDv6kbCBY</dc:identifier>
</cp:coreProperties>
</file>